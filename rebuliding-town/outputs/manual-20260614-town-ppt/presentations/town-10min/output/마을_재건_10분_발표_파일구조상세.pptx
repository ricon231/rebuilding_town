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4" d="100"/>
          <a:sy n="94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3E1862-91CB-4505-9FD9-53F0BCF379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4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3863BE-1B11-4F66-8583-4B62DC70B7AD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5143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>
              <a:defRPr sz="1725" b="0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4000" dirty="0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Rebuilding Town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3E272A-877C-4FF7-90C1-78DE4C2D3977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476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725" b="0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725" b="0" dirty="0" smtClean="0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2D </a:t>
            </a:r>
            <a:r>
              <a:rPr sz="1725" b="0" dirty="0" err="1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액션</a:t>
            </a:r>
            <a:r>
              <a:rPr sz="1725" b="0" dirty="0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+ </a:t>
            </a:r>
            <a:r>
              <a:rPr sz="1725" b="0" dirty="0" err="1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마을</a:t>
            </a:r>
            <a:r>
              <a:rPr sz="1725" b="0" dirty="0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725" b="0" dirty="0" err="1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운영</a:t>
            </a:r>
            <a:r>
              <a:rPr sz="1725" b="0" dirty="0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+ </a:t>
            </a:r>
            <a:r>
              <a:rPr sz="1725" b="0" dirty="0" err="1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유물</a:t>
            </a:r>
            <a:r>
              <a:rPr sz="1725" b="0" dirty="0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725" b="0" dirty="0" err="1">
                <a:solidFill>
                  <a:srgbClr val="C7D2C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수집</a:t>
            </a:r>
            <a:endParaRPr sz="1725" b="0" dirty="0">
              <a:solidFill>
                <a:srgbClr val="C7D2CD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2870DB-1F60-446A-9828-C3B03C1E1C7D}"/>
              </a:ext>
            </a:extLst>
          </p:cNvPr>
          <p:cNvSpPr>
            <a:spLocks noGrp="1"/>
          </p:cNvSpPr>
          <p:nvPr/>
        </p:nvSpPr>
        <p:spPr>
          <a:xfrm>
            <a:off x="5976256" y="5606143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>
              <a:defRPr sz="1275" b="0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160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https://github.com/ricon231/Rebuilding_town</a:t>
            </a:r>
            <a:endParaRPr lang="en-US" altLang="ko-KR" sz="1600" b="0" dirty="0" smtClean="0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4C443D-00BD-4692-A377-210ABF2F7328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buNone/>
              <a:defRPr sz="975" b="0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391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F1DD0E-A0C1-4E65-8302-237E26123C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C720FC-24E3-4C52-9578-43F57F09DB45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66675" cy="209550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17440E-B544-4166-8460-D9C3A39FA540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CORE LOOP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7D524D-866D-446C-93C9-3144C179EE15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2.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핵심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게임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루프</a:t>
            </a:r>
            <a:endParaRPr sz="315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DE47F0-2F6D-4EA8-BD3E-7A44427C2590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54F6A51-084C-42CA-8367-20E4A5C35C24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790700" cy="1257300"/>
          </a:xfrm>
          <a:prstGeom prst="roundRect">
            <a:avLst>
              <a:gd name="adj" fmla="val 6061"/>
            </a:avLst>
          </a:prstGeom>
          <a:solidFill>
            <a:srgbClr val="D8E2D8"/>
          </a:solidFill>
          <a:ln w="19050">
            <a:solidFill>
              <a:srgbClr val="557A62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1C17B8-DB98-454B-9475-CD5104445316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1562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탐색·전투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41E3A3-712F-40C3-8E9D-73996F5CCF67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몹 처치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EC22B8-DB0D-453A-8257-3CDE959BD381}"/>
              </a:ext>
            </a:extLst>
          </p:cNvPr>
          <p:cNvSpPr>
            <a:spLocks noGrp="1"/>
          </p:cNvSpPr>
          <p:nvPr/>
        </p:nvSpPr>
        <p:spPr>
          <a:xfrm>
            <a:off x="2343150" y="2190750"/>
            <a:ext cx="24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5382681-5C52-4967-8EEB-0C9FEEBF25D3}"/>
              </a:ext>
            </a:extLst>
          </p:cNvPr>
          <p:cNvSpPr>
            <a:spLocks noGrp="1"/>
          </p:cNvSpPr>
          <p:nvPr/>
        </p:nvSpPr>
        <p:spPr>
          <a:xfrm>
            <a:off x="2590800" y="1809750"/>
            <a:ext cx="1790700" cy="1257300"/>
          </a:xfrm>
          <a:prstGeom prst="roundRect">
            <a:avLst>
              <a:gd name="adj" fmla="val 6061"/>
            </a:avLst>
          </a:prstGeom>
          <a:solidFill>
            <a:srgbClr val="D8E2D8"/>
          </a:solidFill>
          <a:ln w="19050">
            <a:solidFill>
              <a:srgbClr val="557A62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4954B5-FE5A-4095-8C78-6DA1069DED42}"/>
              </a:ext>
            </a:extLst>
          </p:cNvPr>
          <p:cNvSpPr>
            <a:spLocks noGrp="1"/>
          </p:cNvSpPr>
          <p:nvPr/>
        </p:nvSpPr>
        <p:spPr>
          <a:xfrm>
            <a:off x="2705100" y="2038350"/>
            <a:ext cx="1562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자원 획득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4D4E09-DA17-47EF-ADFF-1C7821A107B4}"/>
              </a:ext>
            </a:extLst>
          </p:cNvPr>
          <p:cNvSpPr>
            <a:spLocks noGrp="1"/>
          </p:cNvSpPr>
          <p:nvPr/>
        </p:nvSpPr>
        <p:spPr>
          <a:xfrm>
            <a:off x="2705100" y="2457450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동전·손상 유물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193717-1415-4DC7-907C-6476CA38BEDD}"/>
              </a:ext>
            </a:extLst>
          </p:cNvPr>
          <p:cNvSpPr>
            <a:spLocks noGrp="1"/>
          </p:cNvSpPr>
          <p:nvPr/>
        </p:nvSpPr>
        <p:spPr>
          <a:xfrm>
            <a:off x="4381500" y="2190750"/>
            <a:ext cx="24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1DAA7EF9-CFFC-4E30-A2A2-C959AABD958B}"/>
              </a:ext>
            </a:extLst>
          </p:cNvPr>
          <p:cNvSpPr>
            <a:spLocks noGrp="1"/>
          </p:cNvSpPr>
          <p:nvPr/>
        </p:nvSpPr>
        <p:spPr>
          <a:xfrm>
            <a:off x="4629150" y="1809750"/>
            <a:ext cx="1790700" cy="1257300"/>
          </a:xfrm>
          <a:prstGeom prst="roundRect">
            <a:avLst>
              <a:gd name="adj" fmla="val 6061"/>
            </a:avLst>
          </a:prstGeom>
          <a:solidFill>
            <a:srgbClr val="D8E2D8"/>
          </a:solidFill>
          <a:ln w="19050">
            <a:solidFill>
              <a:srgbClr val="557A62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40B7B2-F85A-4D26-8E0B-C34104BB1F1A}"/>
              </a:ext>
            </a:extLst>
          </p:cNvPr>
          <p:cNvSpPr>
            <a:spLocks noGrp="1"/>
          </p:cNvSpPr>
          <p:nvPr/>
        </p:nvSpPr>
        <p:spPr>
          <a:xfrm>
            <a:off x="4743450" y="2038350"/>
            <a:ext cx="1562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마을 재건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1C4835-9119-447C-942E-9A0B9707941B}"/>
              </a:ext>
            </a:extLst>
          </p:cNvPr>
          <p:cNvSpPr>
            <a:spLocks noGrp="1"/>
          </p:cNvSpPr>
          <p:nvPr/>
        </p:nvSpPr>
        <p:spPr>
          <a:xfrm>
            <a:off x="4743450" y="2457450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건물 단계 상승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E47E22-D58E-4FEB-BD92-68F077A7A9B0}"/>
              </a:ext>
            </a:extLst>
          </p:cNvPr>
          <p:cNvSpPr>
            <a:spLocks noGrp="1"/>
          </p:cNvSpPr>
          <p:nvPr/>
        </p:nvSpPr>
        <p:spPr>
          <a:xfrm>
            <a:off x="6419850" y="2190750"/>
            <a:ext cx="24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7A00F3CD-5FC2-4C3D-90D0-0E0104E1DA2B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1790700" cy="1257300"/>
          </a:xfrm>
          <a:prstGeom prst="roundRect">
            <a:avLst>
              <a:gd name="adj" fmla="val 6061"/>
            </a:avLst>
          </a:prstGeom>
          <a:solidFill>
            <a:srgbClr val="D8E2D8"/>
          </a:solidFill>
          <a:ln w="19050">
            <a:solidFill>
              <a:srgbClr val="557A62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1C2F33-F757-4D71-AFC0-B1F8123B5CAB}"/>
              </a:ext>
            </a:extLst>
          </p:cNvPr>
          <p:cNvSpPr>
            <a:spLocks noGrp="1"/>
          </p:cNvSpPr>
          <p:nvPr/>
        </p:nvSpPr>
        <p:spPr>
          <a:xfrm>
            <a:off x="6781800" y="2038350"/>
            <a:ext cx="1562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유물 복원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18B2FB1-2B0F-4A75-AB05-4D051036031D}"/>
              </a:ext>
            </a:extLst>
          </p:cNvPr>
          <p:cNvSpPr>
            <a:spLocks noGrp="1"/>
          </p:cNvSpPr>
          <p:nvPr/>
        </p:nvSpPr>
        <p:spPr>
          <a:xfrm>
            <a:off x="6781800" y="2457450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효과·도감 등록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8301AB3-15FB-415C-9D98-D8B67DD8E8FD}"/>
              </a:ext>
            </a:extLst>
          </p:cNvPr>
          <p:cNvSpPr>
            <a:spLocks noGrp="1"/>
          </p:cNvSpPr>
          <p:nvPr/>
        </p:nvSpPr>
        <p:spPr>
          <a:xfrm>
            <a:off x="8458200" y="2190750"/>
            <a:ext cx="24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EF149C3-0C10-433D-8293-BF7207A7835E}"/>
              </a:ext>
            </a:extLst>
          </p:cNvPr>
          <p:cNvSpPr>
            <a:spLocks noGrp="1"/>
          </p:cNvSpPr>
          <p:nvPr/>
        </p:nvSpPr>
        <p:spPr>
          <a:xfrm>
            <a:off x="8705850" y="1809750"/>
            <a:ext cx="1790700" cy="1257300"/>
          </a:xfrm>
          <a:prstGeom prst="roundRect">
            <a:avLst>
              <a:gd name="adj" fmla="val 6061"/>
            </a:avLst>
          </a:prstGeom>
          <a:solidFill>
            <a:srgbClr val="EAD6B9"/>
          </a:solidFill>
          <a:ln w="19050">
            <a:solidFill>
              <a:srgbClr val="C58A42"/>
            </a:solidFill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4B00CC-CA57-4603-A92F-C9DE55CBD35A}"/>
              </a:ext>
            </a:extLst>
          </p:cNvPr>
          <p:cNvSpPr>
            <a:spLocks noGrp="1"/>
          </p:cNvSpPr>
          <p:nvPr/>
        </p:nvSpPr>
        <p:spPr>
          <a:xfrm>
            <a:off x="8820150" y="2038350"/>
            <a:ext cx="1562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습격 방어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9C2BAA8-BA34-42EC-BD96-25B8BD2A9580}"/>
              </a:ext>
            </a:extLst>
          </p:cNvPr>
          <p:cNvSpPr>
            <a:spLocks noGrp="1"/>
          </p:cNvSpPr>
          <p:nvPr/>
        </p:nvSpPr>
        <p:spPr>
          <a:xfrm>
            <a:off x="8820150" y="2457450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다음 날짜 생존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6B8A38A-62B4-4D89-B7D8-8B8DDBCA7253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4905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4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핵심 차별점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5BC82C-B075-4190-9B62-479BC2FD74BD}"/>
              </a:ext>
            </a:extLst>
          </p:cNvPr>
          <p:cNvSpPr>
            <a:spLocks noGrp="1"/>
          </p:cNvSpPr>
          <p:nvPr/>
        </p:nvSpPr>
        <p:spPr>
          <a:xfrm>
            <a:off x="571500" y="3886200"/>
            <a:ext cx="476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8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전투</a:t>
            </a:r>
            <a:r>
              <a:rPr sz="180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80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보상이</a:t>
            </a:r>
            <a:r>
              <a:rPr sz="180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80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능력치에서</a:t>
            </a:r>
            <a:r>
              <a:rPr sz="180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80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끝나지</a:t>
            </a:r>
            <a:r>
              <a:rPr sz="180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800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않고</a:t>
            </a:r>
            <a:r>
              <a:rPr lang="en-US" sz="18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,</a:t>
            </a:r>
            <a:endParaRPr sz="180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  <a:p>
            <a:pPr algn="l">
              <a:buNone/>
              <a:defRPr sz="18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건물</a:t>
            </a:r>
            <a:r>
              <a:rPr lang="ko-KR" altLang="en-US" sz="18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의 성장</a:t>
            </a:r>
            <a:r>
              <a:rPr lang="en-US" altLang="ko-KR" sz="18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, </a:t>
            </a:r>
            <a:r>
              <a:rPr sz="1800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주민</a:t>
            </a:r>
            <a:r>
              <a:rPr lang="ko-KR" altLang="en-US" sz="18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의 증가</a:t>
            </a:r>
            <a:r>
              <a:rPr lang="en-US" altLang="ko-KR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, </a:t>
            </a:r>
            <a:r>
              <a:rPr sz="1800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유물</a:t>
            </a:r>
            <a:r>
              <a:rPr lang="ko-KR" altLang="en-US" sz="18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의 확보 등</a:t>
            </a:r>
            <a:endParaRPr lang="en-US" altLang="ko-KR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  <a:p>
            <a:pPr algn="l">
              <a:buNone/>
              <a:defRPr sz="18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마을</a:t>
            </a:r>
            <a:r>
              <a:rPr lang="ko-KR" altLang="en-US" sz="18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의</a:t>
            </a:r>
            <a:r>
              <a:rPr sz="18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800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변화</a:t>
            </a:r>
            <a:r>
              <a:rPr lang="ko-KR" altLang="en-US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를</a:t>
            </a:r>
            <a:r>
              <a:rPr lang="ko-KR" altLang="en-US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 이끌어낸다</a:t>
            </a:r>
            <a:r>
              <a:rPr lang="en-US" altLang="ko-KR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.</a:t>
            </a:r>
            <a:endParaRPr sz="180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61DE3C2-929B-4CBA-9414-8240F660D44E}"/>
              </a:ext>
            </a:extLst>
          </p:cNvPr>
          <p:cNvSpPr>
            <a:spLocks noGrp="1"/>
          </p:cNvSpPr>
          <p:nvPr/>
        </p:nvSpPr>
        <p:spPr>
          <a:xfrm>
            <a:off x="6419850" y="4314825"/>
            <a:ext cx="487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66A1471-A762-46A7-871E-3F696AF41799}"/>
              </a:ext>
            </a:extLst>
          </p:cNvPr>
          <p:cNvSpPr>
            <a:spLocks noGrp="1"/>
          </p:cNvSpPr>
          <p:nvPr/>
        </p:nvSpPr>
        <p:spPr>
          <a:xfrm>
            <a:off x="6515100" y="4657725"/>
            <a:ext cx="4686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몹 처치 직후 동전과 손상 유물이</a:t>
            </a:r>
          </a:p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동시에 드롭된 장면</a:t>
            </a: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132" y="3287482"/>
            <a:ext cx="3453250" cy="339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95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0B6BFF-90EA-4D1D-AB26-9A86733554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5B83AA-B519-4EA9-A45F-9BF2D0AE272F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66675" cy="209550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22F884-83BD-4623-94A7-FF4C1E78F604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COMBAT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D5BEBB-032A-4354-AC1E-6DB8916EDE05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3.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전투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시스템</a:t>
            </a:r>
            <a:endParaRPr sz="315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3A565A-3CC4-4BA1-AD0C-72AE5CC6F584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E8A75DA-5436-4D97-8382-C815B891C9DC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2000250" cy="400050"/>
          </a:xfrm>
          <a:prstGeom prst="roundRect">
            <a:avLst>
              <a:gd name="adj" fmla="val 19048"/>
            </a:avLst>
          </a:prstGeom>
          <a:solidFill>
            <a:srgbClr val="D8E2D8"/>
          </a:solidFill>
          <a:ln w="0">
            <a:solidFill>
              <a:srgbClr val="D8E2D8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36FE96-BDF3-4429-83E4-41B01F22990E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847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3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좌클릭</a:t>
            </a:r>
            <a:r>
              <a:rPr sz="13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· </a:t>
            </a:r>
            <a:r>
              <a:rPr lang="ko-KR" altLang="en-US" sz="135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베어내기</a:t>
            </a:r>
            <a:endParaRPr sz="135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26C8FE-876A-4F45-A26C-56C6FD5281A7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4000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기본</a:t>
            </a:r>
            <a:r>
              <a:rPr sz="1875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875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공격</a:t>
            </a:r>
            <a:r>
              <a:rPr sz="1875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875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2</a:t>
            </a:r>
            <a:r>
              <a:rPr lang="en-US" sz="1875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6</a:t>
            </a:r>
          </a:p>
          <a:p>
            <a:pPr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875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준비 </a:t>
            </a:r>
            <a:r>
              <a:rPr lang="ko-KR" altLang="en-US" sz="20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→ </a:t>
            </a:r>
            <a:r>
              <a:rPr lang="ko-KR" altLang="en-US" sz="2000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Aptos"/>
                <a:cs typeface="Aptos"/>
              </a:rPr>
              <a:t>내려베기</a:t>
            </a:r>
            <a:endParaRPr sz="1875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E99C01FB-A384-47F4-ADFC-1A7240E5F4F3}"/>
              </a:ext>
            </a:extLst>
          </p:cNvPr>
          <p:cNvSpPr>
            <a:spLocks noGrp="1"/>
          </p:cNvSpPr>
          <p:nvPr/>
        </p:nvSpPr>
        <p:spPr>
          <a:xfrm>
            <a:off x="571500" y="3543300"/>
            <a:ext cx="2000250" cy="400050"/>
          </a:xfrm>
          <a:prstGeom prst="roundRect">
            <a:avLst>
              <a:gd name="adj" fmla="val 19048"/>
            </a:avLst>
          </a:prstGeom>
          <a:solidFill>
            <a:srgbClr val="EAD6B9"/>
          </a:solidFill>
          <a:ln w="0">
            <a:solidFill>
              <a:srgbClr val="EAD6B9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E12BB3-D48D-44DF-A509-58B40E738405}"/>
              </a:ext>
            </a:extLst>
          </p:cNvPr>
          <p:cNvSpPr>
            <a:spLocks noGrp="1"/>
          </p:cNvSpPr>
          <p:nvPr/>
        </p:nvSpPr>
        <p:spPr>
          <a:xfrm>
            <a:off x="647700" y="3571875"/>
            <a:ext cx="1847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3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우클릭 · 찌르기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794B89-3A31-4EA6-A5EB-74223FC38880}"/>
              </a:ext>
            </a:extLst>
          </p:cNvPr>
          <p:cNvSpPr>
            <a:spLocks noGrp="1"/>
          </p:cNvSpPr>
          <p:nvPr/>
        </p:nvSpPr>
        <p:spPr>
          <a:xfrm>
            <a:off x="571500" y="4076700"/>
            <a:ext cx="4476750" cy="1095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7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725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준비</a:t>
            </a:r>
            <a:r>
              <a:rPr sz="1725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725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→ </a:t>
            </a:r>
            <a:r>
              <a:rPr sz="1725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고속</a:t>
            </a:r>
            <a:r>
              <a:rPr sz="1725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725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돌진</a:t>
            </a:r>
            <a:r>
              <a:rPr sz="1725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→ </a:t>
            </a:r>
            <a:r>
              <a:rPr sz="1725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준비</a:t>
            </a:r>
            <a:endParaRPr sz="1725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173928-4691-490D-9A51-B85C00BA7573}"/>
              </a:ext>
            </a:extLst>
          </p:cNvPr>
          <p:cNvSpPr>
            <a:spLocks noGrp="1"/>
          </p:cNvSpPr>
          <p:nvPr/>
        </p:nvSpPr>
        <p:spPr>
          <a:xfrm>
            <a:off x="5476875" y="1676400"/>
            <a:ext cx="6048375" cy="4333875"/>
          </a:xfrm>
          <a:prstGeom prst="rect">
            <a:avLst/>
          </a:prstGeom>
          <a:solidFill>
            <a:srgbClr val="ECEBE6"/>
          </a:solidFill>
          <a:ln w="19050">
            <a:solidFill>
              <a:srgbClr val="727B76"/>
            </a:solidFill>
            <a:prstDash val="dash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4E841F-ADFD-4715-ABA5-C83A55B62E06}"/>
              </a:ext>
            </a:extLst>
          </p:cNvPr>
          <p:cNvSpPr>
            <a:spLocks noGrp="1"/>
          </p:cNvSpPr>
          <p:nvPr/>
        </p:nvSpPr>
        <p:spPr>
          <a:xfrm>
            <a:off x="5705475" y="3443288"/>
            <a:ext cx="55911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F40129-89E8-4967-8067-97B4B3ADFFD2}"/>
              </a:ext>
            </a:extLst>
          </p:cNvPr>
          <p:cNvSpPr>
            <a:spLocks noGrp="1"/>
          </p:cNvSpPr>
          <p:nvPr/>
        </p:nvSpPr>
        <p:spPr>
          <a:xfrm>
            <a:off x="5800725" y="3786188"/>
            <a:ext cx="540067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플레이어가 적을 향해 찌르며</a:t>
            </a:r>
          </a:p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고정 궤적 이펙트가 남는 전투 화면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504" y="1580520"/>
            <a:ext cx="6058746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92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B2435072-4268-4600-BBA4-AB84548E3C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890A95-4F99-47BF-8163-81D2F1078B80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66675" cy="209550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684366-01F0-4E6A-9ED2-B6C5F9407C96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TOWN SYSTEM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3B0E60-16FF-434F-8886-1A0E2A46B2B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4. 마을 운영 시스템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5572B6-CB08-4B95-B4C7-A62BA3D4C405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8A3F60-19EB-4A5C-B058-1AB205F5EDD0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2476500" cy="2238375"/>
          </a:xfrm>
          <a:prstGeom prst="rect">
            <a:avLst/>
          </a:prstGeom>
          <a:solidFill>
            <a:srgbClr val="D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9E3659-8700-4C6E-83B0-57BBC3795E3F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광산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C1B3E5-83FA-4FB2-BCB6-A491D3B58FD4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27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경제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AE05EC-35EB-47F7-BCF3-9AA7847E964B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514350" cy="28575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65B3AB-725D-4C42-8FA6-7F762012AFCC}"/>
              </a:ext>
            </a:extLst>
          </p:cNvPr>
          <p:cNvSpPr>
            <a:spLocks noGrp="1"/>
          </p:cNvSpPr>
          <p:nvPr/>
        </p:nvSpPr>
        <p:spPr>
          <a:xfrm>
            <a:off x="742950" y="3095625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매일 단계 × 2 동전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1062F3-C719-4CB1-B5BE-FCCDB5E040F1}"/>
              </a:ext>
            </a:extLst>
          </p:cNvPr>
          <p:cNvSpPr>
            <a:spLocks noGrp="1"/>
          </p:cNvSpPr>
          <p:nvPr/>
        </p:nvSpPr>
        <p:spPr>
          <a:xfrm>
            <a:off x="3333750" y="1695450"/>
            <a:ext cx="2476500" cy="2238375"/>
          </a:xfrm>
          <a:prstGeom prst="rect">
            <a:avLst/>
          </a:prstGeom>
          <a:solidFill>
            <a:srgbClr val="EAD6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8C0DAD-1D23-4785-865B-B96F012791CA}"/>
              </a:ext>
            </a:extLst>
          </p:cNvPr>
          <p:cNvSpPr>
            <a:spLocks noGrp="1"/>
          </p:cNvSpPr>
          <p:nvPr/>
        </p:nvSpPr>
        <p:spPr>
          <a:xfrm>
            <a:off x="3524250" y="1924050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대장간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334668-81E6-45A3-9AE8-3E7C6378C7F4}"/>
              </a:ext>
            </a:extLst>
          </p:cNvPr>
          <p:cNvSpPr>
            <a:spLocks noGrp="1"/>
          </p:cNvSpPr>
          <p:nvPr/>
        </p:nvSpPr>
        <p:spPr>
          <a:xfrm>
            <a:off x="3524250" y="24288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275" b="1">
                <a:solidFill>
                  <a:srgbClr val="A65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5448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전투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486B1B-C1C7-4758-B062-40B114A2696B}"/>
              </a:ext>
            </a:extLst>
          </p:cNvPr>
          <p:cNvSpPr>
            <a:spLocks noGrp="1"/>
          </p:cNvSpPr>
          <p:nvPr/>
        </p:nvSpPr>
        <p:spPr>
          <a:xfrm>
            <a:off x="3524250" y="2857500"/>
            <a:ext cx="514350" cy="28575"/>
          </a:xfrm>
          <a:prstGeom prst="rect">
            <a:avLst/>
          </a:prstGeom>
          <a:solidFill>
            <a:srgbClr val="C58A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A79187-8947-428C-B0CA-40D565D89553}"/>
              </a:ext>
            </a:extLst>
          </p:cNvPr>
          <p:cNvSpPr>
            <a:spLocks noGrp="1"/>
          </p:cNvSpPr>
          <p:nvPr/>
        </p:nvSpPr>
        <p:spPr>
          <a:xfrm>
            <a:off x="3524250" y="3095625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단계마다 공격력 +15%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9DC007-BA32-4455-90F4-CAE6843E83D6}"/>
              </a:ext>
            </a:extLst>
          </p:cNvPr>
          <p:cNvSpPr>
            <a:spLocks noGrp="1"/>
          </p:cNvSpPr>
          <p:nvPr/>
        </p:nvSpPr>
        <p:spPr>
          <a:xfrm>
            <a:off x="6115050" y="1695450"/>
            <a:ext cx="2476500" cy="2238375"/>
          </a:xfrm>
          <a:prstGeom prst="rect">
            <a:avLst/>
          </a:prstGeom>
          <a:solidFill>
            <a:srgbClr val="D8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DC6797-9C75-4DF2-88B5-2EE81D9DC0DC}"/>
              </a:ext>
            </a:extLst>
          </p:cNvPr>
          <p:cNvSpPr>
            <a:spLocks noGrp="1"/>
          </p:cNvSpPr>
          <p:nvPr/>
        </p:nvSpPr>
        <p:spPr>
          <a:xfrm>
            <a:off x="6305550" y="1924050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관아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1E107F-B01C-47A8-A43F-80A5DD22D083}"/>
              </a:ext>
            </a:extLst>
          </p:cNvPr>
          <p:cNvSpPr>
            <a:spLocks noGrp="1"/>
          </p:cNvSpPr>
          <p:nvPr/>
        </p:nvSpPr>
        <p:spPr>
          <a:xfrm>
            <a:off x="6305550" y="24288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27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인구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83FFF4-FE8C-4C75-BC45-63704C0A08BB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14350" cy="28575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9C1F827-FD9D-4ACC-94C9-C50F1DA3D818}"/>
              </a:ext>
            </a:extLst>
          </p:cNvPr>
          <p:cNvSpPr>
            <a:spLocks noGrp="1"/>
          </p:cNvSpPr>
          <p:nvPr/>
        </p:nvSpPr>
        <p:spPr>
          <a:xfrm>
            <a:off x="6305550" y="3095625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단계 × 2명 · 최대 8명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53B119-9702-47FF-9538-57B1A60CC587}"/>
              </a:ext>
            </a:extLst>
          </p:cNvPr>
          <p:cNvSpPr>
            <a:spLocks noGrp="1"/>
          </p:cNvSpPr>
          <p:nvPr/>
        </p:nvSpPr>
        <p:spPr>
          <a:xfrm>
            <a:off x="8896350" y="1695450"/>
            <a:ext cx="2476500" cy="2238375"/>
          </a:xfrm>
          <a:prstGeom prst="rect">
            <a:avLst/>
          </a:prstGeom>
          <a:solidFill>
            <a:srgbClr val="EAD6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D62206F-467D-4C12-A051-16508DA801B9}"/>
              </a:ext>
            </a:extLst>
          </p:cNvPr>
          <p:cNvSpPr>
            <a:spLocks noGrp="1"/>
          </p:cNvSpPr>
          <p:nvPr/>
        </p:nvSpPr>
        <p:spPr>
          <a:xfrm>
            <a:off x="9086850" y="1924050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복원소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270657-0B13-4B9E-9229-71C46EC957A0}"/>
              </a:ext>
            </a:extLst>
          </p:cNvPr>
          <p:cNvSpPr>
            <a:spLocks noGrp="1"/>
          </p:cNvSpPr>
          <p:nvPr/>
        </p:nvSpPr>
        <p:spPr>
          <a:xfrm>
            <a:off x="9086850" y="24288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275" b="1">
                <a:solidFill>
                  <a:srgbClr val="A65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5448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유물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957554-5CBE-4AA0-8A1E-9AC6137A7A06}"/>
              </a:ext>
            </a:extLst>
          </p:cNvPr>
          <p:cNvSpPr>
            <a:spLocks noGrp="1"/>
          </p:cNvSpPr>
          <p:nvPr/>
        </p:nvSpPr>
        <p:spPr>
          <a:xfrm>
            <a:off x="9086850" y="2857500"/>
            <a:ext cx="514350" cy="28575"/>
          </a:xfrm>
          <a:prstGeom prst="rect">
            <a:avLst/>
          </a:prstGeom>
          <a:solidFill>
            <a:srgbClr val="C58A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74D04B-0036-438B-9FFB-457A541999D0}"/>
              </a:ext>
            </a:extLst>
          </p:cNvPr>
          <p:cNvSpPr>
            <a:spLocks noGrp="1"/>
          </p:cNvSpPr>
          <p:nvPr/>
        </p:nvSpPr>
        <p:spPr>
          <a:xfrm>
            <a:off x="9086850" y="3095625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복원 비용·시간 감소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52" y="4143375"/>
            <a:ext cx="2262495" cy="2477505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599" y="4416392"/>
            <a:ext cx="2334802" cy="2060608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0" y="4427381"/>
            <a:ext cx="2781300" cy="203863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0672" y="4422641"/>
            <a:ext cx="2574062" cy="204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25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9F818E1F-825F-4322-97E1-05E3D1B311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9CDFD9-B243-4A5D-A2F2-8ECCD8A46EDB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66675" cy="209550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6C1376-4555-4F7E-AB4E-3AC6A01DD54E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RAID CYCLE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97662C-E913-4E3C-A1B1-4B8BAE9A4904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5. 적대 몹 습격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551C72-29AC-41EF-B1C0-AAA8CB106643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19FE13-EE65-44AB-B960-219D39684AF5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2850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58A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3일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EE0A5E-C5BA-4398-96E9-0998B0CBF55B}"/>
              </a:ext>
            </a:extLst>
          </p:cNvPr>
          <p:cNvSpPr>
            <a:spLocks noGrp="1"/>
          </p:cNvSpPr>
          <p:nvPr/>
        </p:nvSpPr>
        <p:spPr>
          <a:xfrm>
            <a:off x="571500" y="21145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2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습격 주기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73F94E-EC2F-484B-AE06-B56B0BF59F12}"/>
              </a:ext>
            </a:extLst>
          </p:cNvPr>
          <p:cNvSpPr>
            <a:spLocks noGrp="1"/>
          </p:cNvSpPr>
          <p:nvPr/>
        </p:nvSpPr>
        <p:spPr>
          <a:xfrm>
            <a:off x="2428875" y="16383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2850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58A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30일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711601-8658-4D29-9B43-AAE13C5D4322}"/>
              </a:ext>
            </a:extLst>
          </p:cNvPr>
          <p:cNvSpPr>
            <a:spLocks noGrp="1"/>
          </p:cNvSpPr>
          <p:nvPr/>
        </p:nvSpPr>
        <p:spPr>
          <a:xfrm>
            <a:off x="2428875" y="21145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2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마지막 습격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111D8C-00E9-4A2E-8257-E37958DB941F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2850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58A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15마리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76F17C-BD5C-4542-AD34-840A9F2B0589}"/>
              </a:ext>
            </a:extLst>
          </p:cNvPr>
          <p:cNvSpPr>
            <a:spLocks noGrp="1"/>
          </p:cNvSpPr>
          <p:nvPr/>
        </p:nvSpPr>
        <p:spPr>
          <a:xfrm>
            <a:off x="4286250" y="21145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2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최대 생성 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540933-0A6D-43BC-A82C-2B1B6A99144C}"/>
              </a:ext>
            </a:extLst>
          </p:cNvPr>
          <p:cNvSpPr>
            <a:spLocks noGrp="1"/>
          </p:cNvSpPr>
          <p:nvPr/>
        </p:nvSpPr>
        <p:spPr>
          <a:xfrm>
            <a:off x="568779" y="3126921"/>
            <a:ext cx="5334000" cy="38100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2CFB4F4-A943-4B14-8FAA-D22C51B3530C}"/>
              </a:ext>
            </a:extLst>
          </p:cNvPr>
          <p:cNvSpPr>
            <a:spLocks noGrp="1"/>
          </p:cNvSpPr>
          <p:nvPr/>
        </p:nvSpPr>
        <p:spPr>
          <a:xfrm>
            <a:off x="714375" y="3009900"/>
            <a:ext cx="266700" cy="266700"/>
          </a:xfrm>
          <a:prstGeom prst="ellipse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8F204D-7F00-4E55-81EE-3C0F5488339D}"/>
              </a:ext>
            </a:extLst>
          </p:cNvPr>
          <p:cNvSpPr>
            <a:spLocks noGrp="1"/>
          </p:cNvSpPr>
          <p:nvPr/>
        </p:nvSpPr>
        <p:spPr>
          <a:xfrm>
            <a:off x="542925" y="337185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3일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90A7C52-DDF0-441F-963D-D3AD9B3E11A8}"/>
              </a:ext>
            </a:extLst>
          </p:cNvPr>
          <p:cNvSpPr>
            <a:spLocks noGrp="1"/>
          </p:cNvSpPr>
          <p:nvPr/>
        </p:nvSpPr>
        <p:spPr>
          <a:xfrm>
            <a:off x="485775" y="367665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3마리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B341AD3-B962-45BF-98AD-0C04B052AF5A}"/>
              </a:ext>
            </a:extLst>
          </p:cNvPr>
          <p:cNvSpPr>
            <a:spLocks noGrp="1"/>
          </p:cNvSpPr>
          <p:nvPr/>
        </p:nvSpPr>
        <p:spPr>
          <a:xfrm>
            <a:off x="1933575" y="3009900"/>
            <a:ext cx="266700" cy="266700"/>
          </a:xfrm>
          <a:prstGeom prst="ellipse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C9B8FA8-D8DC-4040-925A-E60BE8E49BB8}"/>
              </a:ext>
            </a:extLst>
          </p:cNvPr>
          <p:cNvSpPr>
            <a:spLocks noGrp="1"/>
          </p:cNvSpPr>
          <p:nvPr/>
        </p:nvSpPr>
        <p:spPr>
          <a:xfrm>
            <a:off x="1762125" y="337185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6일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1C79B6-34FB-4131-8434-26966FCE8069}"/>
              </a:ext>
            </a:extLst>
          </p:cNvPr>
          <p:cNvSpPr>
            <a:spLocks noGrp="1"/>
          </p:cNvSpPr>
          <p:nvPr/>
        </p:nvSpPr>
        <p:spPr>
          <a:xfrm>
            <a:off x="1704975" y="367665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5마리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E945864-D790-4B32-8E37-02E58D094586}"/>
              </a:ext>
            </a:extLst>
          </p:cNvPr>
          <p:cNvSpPr>
            <a:spLocks noGrp="1"/>
          </p:cNvSpPr>
          <p:nvPr/>
        </p:nvSpPr>
        <p:spPr>
          <a:xfrm>
            <a:off x="3152775" y="3009900"/>
            <a:ext cx="266700" cy="266700"/>
          </a:xfrm>
          <a:prstGeom prst="ellipse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66194FE-030A-43A8-8DB3-73965ECF82AD}"/>
              </a:ext>
            </a:extLst>
          </p:cNvPr>
          <p:cNvSpPr>
            <a:spLocks noGrp="1"/>
          </p:cNvSpPr>
          <p:nvPr/>
        </p:nvSpPr>
        <p:spPr>
          <a:xfrm>
            <a:off x="2981325" y="337185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9일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6C270D-F206-4203-A4C6-6619EFDA4421}"/>
              </a:ext>
            </a:extLst>
          </p:cNvPr>
          <p:cNvSpPr>
            <a:spLocks noGrp="1"/>
          </p:cNvSpPr>
          <p:nvPr/>
        </p:nvSpPr>
        <p:spPr>
          <a:xfrm>
            <a:off x="2924175" y="367665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7마리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4D75CEE-86B5-459D-991F-40BA95EEFA1B}"/>
              </a:ext>
            </a:extLst>
          </p:cNvPr>
          <p:cNvSpPr>
            <a:spLocks noGrp="1"/>
          </p:cNvSpPr>
          <p:nvPr/>
        </p:nvSpPr>
        <p:spPr>
          <a:xfrm>
            <a:off x="4371975" y="3009900"/>
            <a:ext cx="266700" cy="266700"/>
          </a:xfrm>
          <a:prstGeom prst="ellipse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104D66F-FFB1-4426-8BBF-A83194F06DB9}"/>
              </a:ext>
            </a:extLst>
          </p:cNvPr>
          <p:cNvSpPr>
            <a:spLocks noGrp="1"/>
          </p:cNvSpPr>
          <p:nvPr/>
        </p:nvSpPr>
        <p:spPr>
          <a:xfrm>
            <a:off x="4200525" y="337185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18일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334301D-A26A-4A6F-A731-B16D314C259B}"/>
              </a:ext>
            </a:extLst>
          </p:cNvPr>
          <p:cNvSpPr>
            <a:spLocks noGrp="1"/>
          </p:cNvSpPr>
          <p:nvPr/>
        </p:nvSpPr>
        <p:spPr>
          <a:xfrm>
            <a:off x="4143375" y="367665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13마리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5B0530C-377C-4D02-9E2D-C19BCF0B46F0}"/>
              </a:ext>
            </a:extLst>
          </p:cNvPr>
          <p:cNvSpPr>
            <a:spLocks noGrp="1"/>
          </p:cNvSpPr>
          <p:nvPr/>
        </p:nvSpPr>
        <p:spPr>
          <a:xfrm>
            <a:off x="5362575" y="3009900"/>
            <a:ext cx="266700" cy="266700"/>
          </a:xfrm>
          <a:prstGeom prst="ellipse">
            <a:avLst/>
          </a:prstGeom>
          <a:solidFill>
            <a:srgbClr val="C58A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CA0B046-09FA-4748-A92D-E64083B458D0}"/>
              </a:ext>
            </a:extLst>
          </p:cNvPr>
          <p:cNvSpPr>
            <a:spLocks noGrp="1"/>
          </p:cNvSpPr>
          <p:nvPr/>
        </p:nvSpPr>
        <p:spPr>
          <a:xfrm>
            <a:off x="5206437" y="337185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30일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D34EF0F-F41D-4964-8FC6-E8C58F7A8359}"/>
              </a:ext>
            </a:extLst>
          </p:cNvPr>
          <p:cNvSpPr>
            <a:spLocks noGrp="1"/>
          </p:cNvSpPr>
          <p:nvPr/>
        </p:nvSpPr>
        <p:spPr>
          <a:xfrm>
            <a:off x="5149287" y="367665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15마리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A413C50-E0DE-44FE-A586-AFD06A7AADBD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286375" cy="1095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오른쪽</a:t>
            </a:r>
            <a:r>
              <a:rPr sz="16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좌표에서</a:t>
            </a:r>
            <a:r>
              <a:rPr sz="16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적대</a:t>
            </a:r>
            <a:r>
              <a:rPr sz="16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몹을</a:t>
            </a:r>
            <a:r>
              <a:rPr sz="16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생성하고</a:t>
            </a:r>
            <a:endParaRPr sz="165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  <a:p>
            <a:pPr algn="l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마을</a:t>
            </a:r>
            <a:r>
              <a:rPr sz="16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중심을</a:t>
            </a:r>
            <a:r>
              <a:rPr sz="16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우선</a:t>
            </a:r>
            <a:r>
              <a:rPr sz="16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목적지로</a:t>
            </a:r>
            <a:r>
              <a:rPr sz="16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지정한다</a:t>
            </a:r>
            <a:r>
              <a:rPr sz="165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.</a:t>
            </a:r>
            <a:endParaRPr sz="165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FFDB446-D067-4A58-8E14-CBB1636145D0}"/>
              </a:ext>
            </a:extLst>
          </p:cNvPr>
          <p:cNvSpPr>
            <a:spLocks noGrp="1"/>
          </p:cNvSpPr>
          <p:nvPr/>
        </p:nvSpPr>
        <p:spPr>
          <a:xfrm>
            <a:off x="6657975" y="3314700"/>
            <a:ext cx="4638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</a:t>
            </a:r>
            <a:r>
              <a:rPr sz="1350" b="1" dirty="0">
                <a:solidFill>
                  <a:srgbClr val="557A62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삽입</a:t>
            </a:r>
            <a:r>
              <a:rPr sz="1350" b="1" dirty="0">
                <a:solidFill>
                  <a:srgbClr val="557A62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위치</a:t>
            </a:r>
            <a:endParaRPr sz="1350" b="1" dirty="0">
              <a:solidFill>
                <a:srgbClr val="557A6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BC094B-7B77-42DB-B7AD-2CDED8FE21B9}"/>
              </a:ext>
            </a:extLst>
          </p:cNvPr>
          <p:cNvSpPr>
            <a:spLocks noGrp="1"/>
          </p:cNvSpPr>
          <p:nvPr/>
        </p:nvSpPr>
        <p:spPr>
          <a:xfrm>
            <a:off x="6753225" y="3657600"/>
            <a:ext cx="444817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화면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오른쪽에서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여러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적이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생성되어</a:t>
            </a:r>
            <a:endParaRPr sz="1650" b="1" dirty="0">
              <a:solidFill>
                <a:srgbClr val="152421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마을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건물과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주민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쪽으로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이동하는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습격</a:t>
            </a:r>
            <a:r>
              <a:rPr sz="1650" b="1" dirty="0">
                <a:solidFill>
                  <a:srgbClr val="15242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장면</a:t>
            </a:r>
            <a:endParaRPr sz="1650" b="1" dirty="0">
              <a:solidFill>
                <a:srgbClr val="15242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587" y="1543050"/>
            <a:ext cx="5998701" cy="39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62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266B8D19-6125-42EF-9D6A-C5DBC2CADC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560D4C-51EB-4B0E-874D-07EA0EFC0609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66675" cy="209550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F68662-A29A-40E2-B575-71A6B62C8AF7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ARCHITECTURE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602373-8D16-47F1-A3D3-BE04947413D4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lang="en-US"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6</a:t>
            </a:r>
            <a:r>
              <a:rPr sz="315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-1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.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간략화된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파일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구조</a:t>
            </a:r>
            <a:endParaRPr sz="315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9F782A-D027-4A8E-9002-9A8856FE2E0D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3CEBC16-D1AD-4D38-BBC2-92BA2761A7C6}"/>
              </a:ext>
            </a:extLst>
          </p:cNvPr>
          <p:cNvSpPr>
            <a:spLocks noGrp="1"/>
          </p:cNvSpPr>
          <p:nvPr/>
        </p:nvSpPr>
        <p:spPr>
          <a:xfrm>
            <a:off x="4524375" y="1562100"/>
            <a:ext cx="3143250" cy="628650"/>
          </a:xfrm>
          <a:prstGeom prst="roundRect">
            <a:avLst>
              <a:gd name="adj" fmla="val 12121"/>
            </a:avLst>
          </a:prstGeom>
          <a:solidFill>
            <a:srgbClr val="152421"/>
          </a:solidFill>
          <a:ln w="9525">
            <a:solidFill>
              <a:srgbClr val="15242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F99932-A548-4FEE-89D8-2F33BBEE3863}"/>
              </a:ext>
            </a:extLst>
          </p:cNvPr>
          <p:cNvSpPr>
            <a:spLocks noGrp="1"/>
          </p:cNvSpPr>
          <p:nvPr/>
        </p:nvSpPr>
        <p:spPr>
          <a:xfrm>
            <a:off x="4714875" y="1638300"/>
            <a:ext cx="2762250" cy="2667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project.godot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AAE50C-7F0A-44C6-A3E9-C3668B9C1FEF}"/>
              </a:ext>
            </a:extLst>
          </p:cNvPr>
          <p:cNvSpPr>
            <a:spLocks noGrp="1"/>
          </p:cNvSpPr>
          <p:nvPr/>
        </p:nvSpPr>
        <p:spPr>
          <a:xfrm>
            <a:off x="4714875" y="1905000"/>
            <a:ext cx="2762250" cy="1905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0">
                <a:solidFill>
                  <a:srgbClr val="C7D2C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2CD"/>
                </a:solidFill>
                <a:latin typeface="Malgun Gothic"/>
                <a:ea typeface="Malgun Gothic"/>
                <a:cs typeface="Malgun Gothic"/>
              </a:rPr>
              <a:t>main.tscn 시작 · ArtifactCatalog Autoload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6EAAD6-EF5F-4111-8FF7-809D0F6EB80F}"/>
              </a:ext>
            </a:extLst>
          </p:cNvPr>
          <p:cNvSpPr>
            <a:spLocks noGrp="1"/>
          </p:cNvSpPr>
          <p:nvPr/>
        </p:nvSpPr>
        <p:spPr>
          <a:xfrm>
            <a:off x="6076950" y="2190750"/>
            <a:ext cx="38100" cy="400050"/>
          </a:xfrm>
          <a:prstGeom prst="rect">
            <a:avLst/>
          </a:prstGeom>
          <a:solidFill>
            <a:srgbClr val="557A62"/>
          </a:solidFill>
          <a:ln w="0">
            <a:solidFill>
              <a:srgbClr val="557A6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B07F24-01F0-40F7-90D7-67D6031C5700}"/>
              </a:ext>
            </a:extLst>
          </p:cNvPr>
          <p:cNvSpPr>
            <a:spLocks noGrp="1"/>
          </p:cNvSpPr>
          <p:nvPr/>
        </p:nvSpPr>
        <p:spPr>
          <a:xfrm>
            <a:off x="1514475" y="2571750"/>
            <a:ext cx="9163050" cy="28575"/>
          </a:xfrm>
          <a:prstGeom prst="rect">
            <a:avLst/>
          </a:prstGeom>
          <a:solidFill>
            <a:srgbClr val="557A62"/>
          </a:solidFill>
          <a:ln w="0">
            <a:solidFill>
              <a:srgbClr val="557A6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58AF33-9D27-401A-8E51-EEB29E4FAD59}"/>
              </a:ext>
            </a:extLst>
          </p:cNvPr>
          <p:cNvSpPr>
            <a:spLocks noGrp="1"/>
          </p:cNvSpPr>
          <p:nvPr/>
        </p:nvSpPr>
        <p:spPr>
          <a:xfrm>
            <a:off x="1743075" y="2571750"/>
            <a:ext cx="28575" cy="400050"/>
          </a:xfrm>
          <a:prstGeom prst="rect">
            <a:avLst/>
          </a:prstGeom>
          <a:solidFill>
            <a:srgbClr val="557A62"/>
          </a:solidFill>
          <a:ln w="0">
            <a:solidFill>
              <a:srgbClr val="557A62"/>
            </a:solidFill>
            <a:prstDash val="solid"/>
          </a:ln>
        </p:spPr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B0CE40A-2DB7-4AF6-B8AE-D3DDBC9166CD}"/>
              </a:ext>
            </a:extLst>
          </p:cNvPr>
          <p:cNvSpPr>
            <a:spLocks noGrp="1"/>
          </p:cNvSpPr>
          <p:nvPr/>
        </p:nvSpPr>
        <p:spPr>
          <a:xfrm>
            <a:off x="523875" y="2952750"/>
            <a:ext cx="2476500" cy="2266950"/>
          </a:xfrm>
          <a:prstGeom prst="roundRect">
            <a:avLst>
              <a:gd name="adj" fmla="val 3361"/>
            </a:avLst>
          </a:prstGeom>
          <a:solidFill>
            <a:srgbClr val="D8E2D8"/>
          </a:solidFill>
          <a:ln w="9525">
            <a:solidFill>
              <a:srgbClr val="557A62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39A185-B39D-4106-90C2-DA85059A8CC3}"/>
              </a:ext>
            </a:extLst>
          </p:cNvPr>
          <p:cNvSpPr>
            <a:spLocks noGrp="1"/>
          </p:cNvSpPr>
          <p:nvPr/>
        </p:nvSpPr>
        <p:spPr>
          <a:xfrm>
            <a:off x="695325" y="3105150"/>
            <a:ext cx="213360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65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메인·진행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D394D3-FD80-4A2B-8428-1ED8ADAA4E1B}"/>
              </a:ext>
            </a:extLst>
          </p:cNvPr>
          <p:cNvSpPr>
            <a:spLocks noGrp="1"/>
          </p:cNvSpPr>
          <p:nvPr/>
        </p:nvSpPr>
        <p:spPr>
          <a:xfrm>
            <a:off x="762000" y="3514725"/>
            <a:ext cx="2000250" cy="19050"/>
          </a:xfrm>
          <a:prstGeom prst="rect">
            <a:avLst/>
          </a:prstGeom>
          <a:solidFill>
            <a:srgbClr val="557A62"/>
          </a:solidFill>
          <a:ln w="0">
            <a:solidFill>
              <a:srgbClr val="557A62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5F59DCA-B30D-4CC1-B389-1D36996C8F40}"/>
              </a:ext>
            </a:extLst>
          </p:cNvPr>
          <p:cNvSpPr>
            <a:spLocks noGrp="1"/>
          </p:cNvSpPr>
          <p:nvPr/>
        </p:nvSpPr>
        <p:spPr>
          <a:xfrm>
            <a:off x="733425" y="363855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main.tscn / main.gd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8AAF29-F99B-40AC-8294-D4BC1B1FDA2F}"/>
              </a:ext>
            </a:extLst>
          </p:cNvPr>
          <p:cNvSpPr>
            <a:spLocks noGrp="1"/>
          </p:cNvSpPr>
          <p:nvPr/>
        </p:nvSpPr>
        <p:spPr>
          <a:xfrm>
            <a:off x="733425" y="403860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day_night_cycle.gd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0B018A-7E0B-4E8D-A862-4072EF9C1DC7}"/>
              </a:ext>
            </a:extLst>
          </p:cNvPr>
          <p:cNvSpPr>
            <a:spLocks noGrp="1"/>
          </p:cNvSpPr>
          <p:nvPr/>
        </p:nvSpPr>
        <p:spPr>
          <a:xfrm>
            <a:off x="733425" y="443865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mob_spawner.gd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636BB8-36B5-44ED-BB4B-9F157486B5B6}"/>
              </a:ext>
            </a:extLst>
          </p:cNvPr>
          <p:cNvSpPr>
            <a:spLocks noGrp="1"/>
          </p:cNvSpPr>
          <p:nvPr/>
        </p:nvSpPr>
        <p:spPr>
          <a:xfrm>
            <a:off x="695325" y="4838700"/>
            <a:ext cx="2133600" cy="238125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날짜·습격·승리 총괄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5FE1DA-94BE-44F4-A2C5-12FE84A2ED3D}"/>
              </a:ext>
            </a:extLst>
          </p:cNvPr>
          <p:cNvSpPr>
            <a:spLocks noGrp="1"/>
          </p:cNvSpPr>
          <p:nvPr/>
        </p:nvSpPr>
        <p:spPr>
          <a:xfrm>
            <a:off x="4600575" y="2571750"/>
            <a:ext cx="28575" cy="400050"/>
          </a:xfrm>
          <a:prstGeom prst="rect">
            <a:avLst/>
          </a:prstGeom>
          <a:solidFill>
            <a:srgbClr val="C58A42"/>
          </a:solidFill>
          <a:ln w="0">
            <a:solidFill>
              <a:srgbClr val="C58A42"/>
            </a:solidFill>
            <a:prstDash val="solid"/>
          </a:ln>
        </p:spPr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49E6F0A4-8265-4B18-B05E-7A9D3B51F146}"/>
              </a:ext>
            </a:extLst>
          </p:cNvPr>
          <p:cNvSpPr>
            <a:spLocks noGrp="1"/>
          </p:cNvSpPr>
          <p:nvPr/>
        </p:nvSpPr>
        <p:spPr>
          <a:xfrm>
            <a:off x="3381375" y="2952750"/>
            <a:ext cx="2476500" cy="2266950"/>
          </a:xfrm>
          <a:prstGeom prst="roundRect">
            <a:avLst>
              <a:gd name="adj" fmla="val 3361"/>
            </a:avLst>
          </a:prstGeom>
          <a:solidFill>
            <a:srgbClr val="EAD6B9"/>
          </a:solidFill>
          <a:ln w="9525">
            <a:solidFill>
              <a:srgbClr val="C58A4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37F24D8-11C8-4A5E-A73C-84CE30A6465B}"/>
              </a:ext>
            </a:extLst>
          </p:cNvPr>
          <p:cNvSpPr>
            <a:spLocks noGrp="1"/>
          </p:cNvSpPr>
          <p:nvPr/>
        </p:nvSpPr>
        <p:spPr>
          <a:xfrm>
            <a:off x="3552825" y="3105150"/>
            <a:ext cx="213360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65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캐릭터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2FB3B2A-DEF6-4F13-B863-65C3AEB24397}"/>
              </a:ext>
            </a:extLst>
          </p:cNvPr>
          <p:cNvSpPr>
            <a:spLocks noGrp="1"/>
          </p:cNvSpPr>
          <p:nvPr/>
        </p:nvSpPr>
        <p:spPr>
          <a:xfrm>
            <a:off x="3619500" y="3514725"/>
            <a:ext cx="2000250" cy="19050"/>
          </a:xfrm>
          <a:prstGeom prst="rect">
            <a:avLst/>
          </a:prstGeom>
          <a:solidFill>
            <a:srgbClr val="C58A42"/>
          </a:solidFill>
          <a:ln w="0">
            <a:solidFill>
              <a:srgbClr val="C58A42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9F7A16-181E-47D5-B17F-59C448DDCDBB}"/>
              </a:ext>
            </a:extLst>
          </p:cNvPr>
          <p:cNvSpPr>
            <a:spLocks noGrp="1"/>
          </p:cNvSpPr>
          <p:nvPr/>
        </p:nvSpPr>
        <p:spPr>
          <a:xfrm>
            <a:off x="3590925" y="363855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player.tscn / player.gd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29B0C08-C4DF-478B-94C2-DE3C6148E94D}"/>
              </a:ext>
            </a:extLst>
          </p:cNvPr>
          <p:cNvSpPr>
            <a:spLocks noGrp="1"/>
          </p:cNvSpPr>
          <p:nvPr/>
        </p:nvSpPr>
        <p:spPr>
          <a:xfrm>
            <a:off x="3590925" y="403860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citizen.tscn / citizen.gd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DD2E27-6E69-493E-85DF-171C63FD438C}"/>
              </a:ext>
            </a:extLst>
          </p:cNvPr>
          <p:cNvSpPr>
            <a:spLocks noGrp="1"/>
          </p:cNvSpPr>
          <p:nvPr/>
        </p:nvSpPr>
        <p:spPr>
          <a:xfrm>
            <a:off x="3590925" y="443865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animal.gd + 몹 5종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B683C56-1CD5-46CA-9301-C9338E5EC5DD}"/>
              </a:ext>
            </a:extLst>
          </p:cNvPr>
          <p:cNvSpPr>
            <a:spLocks noGrp="1"/>
          </p:cNvSpPr>
          <p:nvPr/>
        </p:nvSpPr>
        <p:spPr>
          <a:xfrm>
            <a:off x="3552825" y="4838700"/>
            <a:ext cx="2133600" cy="238125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이동·전투·AI 담당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9AE52BB-07CA-4FB4-970E-7F4356927064}"/>
              </a:ext>
            </a:extLst>
          </p:cNvPr>
          <p:cNvSpPr>
            <a:spLocks noGrp="1"/>
          </p:cNvSpPr>
          <p:nvPr/>
        </p:nvSpPr>
        <p:spPr>
          <a:xfrm>
            <a:off x="7458075" y="2571750"/>
            <a:ext cx="28575" cy="400050"/>
          </a:xfrm>
          <a:prstGeom prst="rect">
            <a:avLst/>
          </a:prstGeom>
          <a:solidFill>
            <a:srgbClr val="557A62"/>
          </a:solidFill>
          <a:ln w="0">
            <a:solidFill>
              <a:srgbClr val="557A62"/>
            </a:solidFill>
            <a:prstDash val="solid"/>
          </a:ln>
        </p:spPr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29D580A2-280D-4515-AFCB-1F5B43DF06B2}"/>
              </a:ext>
            </a:extLst>
          </p:cNvPr>
          <p:cNvSpPr>
            <a:spLocks noGrp="1"/>
          </p:cNvSpPr>
          <p:nvPr/>
        </p:nvSpPr>
        <p:spPr>
          <a:xfrm>
            <a:off x="6238875" y="2952750"/>
            <a:ext cx="2476500" cy="2266950"/>
          </a:xfrm>
          <a:prstGeom prst="roundRect">
            <a:avLst>
              <a:gd name="adj" fmla="val 3361"/>
            </a:avLst>
          </a:prstGeom>
          <a:solidFill>
            <a:srgbClr val="D8E2D8"/>
          </a:solidFill>
          <a:ln w="9525">
            <a:solidFill>
              <a:srgbClr val="557A62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D15533C-3F64-4A18-A2D6-85CB3A839D78}"/>
              </a:ext>
            </a:extLst>
          </p:cNvPr>
          <p:cNvSpPr>
            <a:spLocks noGrp="1"/>
          </p:cNvSpPr>
          <p:nvPr/>
        </p:nvSpPr>
        <p:spPr>
          <a:xfrm>
            <a:off x="6410325" y="3105150"/>
            <a:ext cx="213360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65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마을 시설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C4DA72D-5C1A-4FEC-9EE8-F283577730F0}"/>
              </a:ext>
            </a:extLst>
          </p:cNvPr>
          <p:cNvSpPr>
            <a:spLocks noGrp="1"/>
          </p:cNvSpPr>
          <p:nvPr/>
        </p:nvSpPr>
        <p:spPr>
          <a:xfrm>
            <a:off x="6477000" y="3514725"/>
            <a:ext cx="2000250" cy="19050"/>
          </a:xfrm>
          <a:prstGeom prst="rect">
            <a:avLst/>
          </a:prstGeom>
          <a:solidFill>
            <a:srgbClr val="557A62"/>
          </a:solidFill>
          <a:ln w="0">
            <a:solidFill>
              <a:srgbClr val="557A62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14AF051-4A86-41B1-B3DD-2F98D8283A98}"/>
              </a:ext>
            </a:extLst>
          </p:cNvPr>
          <p:cNvSpPr>
            <a:spLocks noGrp="1"/>
          </p:cNvSpPr>
          <p:nvPr/>
        </p:nvSpPr>
        <p:spPr>
          <a:xfrm>
            <a:off x="6448425" y="363855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건물 씬 4종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6335D6-011C-4BA8-AAA1-B89672C75AA2}"/>
              </a:ext>
            </a:extLst>
          </p:cNvPr>
          <p:cNvSpPr>
            <a:spLocks noGrp="1"/>
          </p:cNvSpPr>
          <p:nvPr/>
        </p:nvSpPr>
        <p:spPr>
          <a:xfrm>
            <a:off x="6448425" y="403860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upgrade_building.gd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89BD7A-EDD6-4BC2-AC30-4FAB93C9F8DF}"/>
              </a:ext>
            </a:extLst>
          </p:cNvPr>
          <p:cNvSpPr>
            <a:spLocks noGrp="1"/>
          </p:cNvSpPr>
          <p:nvPr/>
        </p:nvSpPr>
        <p:spPr>
          <a:xfrm>
            <a:off x="6448425" y="443865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defense_wall.tscn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505C81-0956-4D84-9AAD-EE964CAA5841}"/>
              </a:ext>
            </a:extLst>
          </p:cNvPr>
          <p:cNvSpPr>
            <a:spLocks noGrp="1"/>
          </p:cNvSpPr>
          <p:nvPr/>
        </p:nvSpPr>
        <p:spPr>
          <a:xfrm>
            <a:off x="6410325" y="4838700"/>
            <a:ext cx="2133600" cy="238125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건물 성장·상호작용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2942752-C054-4375-9797-E110078C7D00}"/>
              </a:ext>
            </a:extLst>
          </p:cNvPr>
          <p:cNvSpPr>
            <a:spLocks noGrp="1"/>
          </p:cNvSpPr>
          <p:nvPr/>
        </p:nvSpPr>
        <p:spPr>
          <a:xfrm>
            <a:off x="10315575" y="2571750"/>
            <a:ext cx="28575" cy="400050"/>
          </a:xfrm>
          <a:prstGeom prst="rect">
            <a:avLst/>
          </a:prstGeom>
          <a:solidFill>
            <a:srgbClr val="C58A42"/>
          </a:solidFill>
          <a:ln w="0">
            <a:solidFill>
              <a:srgbClr val="C58A42"/>
            </a:solidFill>
            <a:prstDash val="solid"/>
          </a:ln>
        </p:spPr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3DD503CE-F453-4A67-97FC-F2BDA2286980}"/>
              </a:ext>
            </a:extLst>
          </p:cNvPr>
          <p:cNvSpPr>
            <a:spLocks noGrp="1"/>
          </p:cNvSpPr>
          <p:nvPr/>
        </p:nvSpPr>
        <p:spPr>
          <a:xfrm>
            <a:off x="9096375" y="2952750"/>
            <a:ext cx="2476500" cy="2266950"/>
          </a:xfrm>
          <a:prstGeom prst="roundRect">
            <a:avLst>
              <a:gd name="adj" fmla="val 3361"/>
            </a:avLst>
          </a:prstGeom>
          <a:solidFill>
            <a:srgbClr val="EAD6B9"/>
          </a:solidFill>
          <a:ln w="9525">
            <a:solidFill>
              <a:srgbClr val="C58A42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164A7B-EA37-4E0F-AA2D-6D34D7018706}"/>
              </a:ext>
            </a:extLst>
          </p:cNvPr>
          <p:cNvSpPr>
            <a:spLocks noGrp="1"/>
          </p:cNvSpPr>
          <p:nvPr/>
        </p:nvSpPr>
        <p:spPr>
          <a:xfrm>
            <a:off x="9267825" y="3105150"/>
            <a:ext cx="213360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65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UI·데이터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A1A07F-4BDD-408E-85B1-972ED4FF20B9}"/>
              </a:ext>
            </a:extLst>
          </p:cNvPr>
          <p:cNvSpPr>
            <a:spLocks noGrp="1"/>
          </p:cNvSpPr>
          <p:nvPr/>
        </p:nvSpPr>
        <p:spPr>
          <a:xfrm>
            <a:off x="9334500" y="3514725"/>
            <a:ext cx="2000250" cy="19050"/>
          </a:xfrm>
          <a:prstGeom prst="rect">
            <a:avLst/>
          </a:prstGeom>
          <a:solidFill>
            <a:srgbClr val="C58A42"/>
          </a:solidFill>
          <a:ln w="0">
            <a:solidFill>
              <a:srgbClr val="C58A42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F3860FB-355E-413C-A56A-9ECB2478102B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player_hud.tscn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C5E43C-B275-40EF-94F8-E4F5826E5906}"/>
              </a:ext>
            </a:extLst>
          </p:cNvPr>
          <p:cNvSpPr>
            <a:spLocks noGrp="1"/>
          </p:cNvSpPr>
          <p:nvPr/>
        </p:nvSpPr>
        <p:spPr>
          <a:xfrm>
            <a:off x="9305925" y="403860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artifact_catalog_ui.tscn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DCB4089-1477-4AA2-A742-59C9ADBA8B98}"/>
              </a:ext>
            </a:extLst>
          </p:cNvPr>
          <p:cNvSpPr>
            <a:spLocks noGrp="1"/>
          </p:cNvSpPr>
          <p:nvPr/>
        </p:nvSpPr>
        <p:spPr>
          <a:xfrm>
            <a:off x="9305925" y="4438650"/>
            <a:ext cx="2057400" cy="2857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pause / game_over UI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1470B0C-8DFB-4937-BE01-85F4A4E43A85}"/>
              </a:ext>
            </a:extLst>
          </p:cNvPr>
          <p:cNvSpPr>
            <a:spLocks noGrp="1"/>
          </p:cNvSpPr>
          <p:nvPr/>
        </p:nvSpPr>
        <p:spPr>
          <a:xfrm>
            <a:off x="9267825" y="4838700"/>
            <a:ext cx="2133600" cy="238125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HUD·도감·메뉴 표시</a:t>
            </a:r>
          </a:p>
        </p:txBody>
      </p:sp>
    </p:spTree>
    <p:extLst>
      <p:ext uri="{BB962C8B-B14F-4D97-AF65-F5344CB8AC3E}">
        <p14:creationId xmlns:p14="http://schemas.microsoft.com/office/powerpoint/2010/main" val="1202255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6B8D19-6125-42EF-9D6A-C5DBC2CADC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560D4C-51EB-4B0E-874D-07EA0EFC0609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66675" cy="209550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F68662-A29A-40E2-B575-71A6B62C8AF7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ARCHITECTURE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602373-8D16-47F1-A3D3-BE04947413D4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lang="en-US"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6</a:t>
            </a:r>
            <a:r>
              <a:rPr sz="315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-2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.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플레이어·마을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씬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구조</a:t>
            </a:r>
            <a:endParaRPr sz="315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9F782A-D027-4A8E-9002-9A8856FE2E0D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66EF760-3766-4E36-9B74-D9123BAB140A}"/>
              </a:ext>
            </a:extLst>
          </p:cNvPr>
          <p:cNvSpPr>
            <a:spLocks noGrp="1"/>
          </p:cNvSpPr>
          <p:nvPr/>
        </p:nvSpPr>
        <p:spPr>
          <a:xfrm>
            <a:off x="523875" y="1581150"/>
            <a:ext cx="5286375" cy="3695700"/>
          </a:xfrm>
          <a:prstGeom prst="roundRect">
            <a:avLst>
              <a:gd name="adj" fmla="val 2062"/>
            </a:avLst>
          </a:prstGeom>
          <a:solidFill>
            <a:srgbClr val="D8E2D8"/>
          </a:solidFill>
          <a:ln w="9525">
            <a:solidFill>
              <a:srgbClr val="557A62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D3ED07-B191-440D-97DA-2BE377A0EA7D}"/>
              </a:ext>
            </a:extLst>
          </p:cNvPr>
          <p:cNvSpPr>
            <a:spLocks noGrp="1"/>
          </p:cNvSpPr>
          <p:nvPr/>
        </p:nvSpPr>
        <p:spPr>
          <a:xfrm>
            <a:off x="714375" y="1695450"/>
            <a:ext cx="490537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7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player.tscn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13CC35-AE62-4165-9652-EEACB78ED2AB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4905375" cy="2095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050" b="1">
                <a:solidFill>
                  <a:srgbClr val="557A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57A62"/>
                </a:solidFill>
                <a:latin typeface="Malgun Gothic"/>
                <a:ea typeface="Malgun Gothic"/>
                <a:cs typeface="Malgun Gothic"/>
              </a:rPr>
              <a:t>Player (CharacterBody2D) · player.gd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1EC66F-0AB5-4233-AEBD-DCFD0C8A0274}"/>
              </a:ext>
            </a:extLst>
          </p:cNvPr>
          <p:cNvSpPr>
            <a:spLocks noGrp="1"/>
          </p:cNvSpPr>
          <p:nvPr/>
        </p:nvSpPr>
        <p:spPr>
          <a:xfrm>
            <a:off x="3105150" y="2247900"/>
            <a:ext cx="28575" cy="247650"/>
          </a:xfrm>
          <a:prstGeom prst="rect">
            <a:avLst/>
          </a:prstGeom>
          <a:solidFill>
            <a:srgbClr val="557A62"/>
          </a:solidFill>
          <a:ln w="0">
            <a:solidFill>
              <a:srgbClr val="557A62"/>
            </a:solidFill>
            <a:prstDash val="solid"/>
          </a:ln>
        </p:spPr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F6800D6-CD4E-411A-B588-B9395C00F762}"/>
              </a:ext>
            </a:extLst>
          </p:cNvPr>
          <p:cNvSpPr>
            <a:spLocks noGrp="1"/>
          </p:cNvSpPr>
          <p:nvPr/>
        </p:nvSpPr>
        <p:spPr>
          <a:xfrm>
            <a:off x="1000125" y="249555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3902C0-3702-4C0A-9C30-7B4008985FBC}"/>
              </a:ext>
            </a:extLst>
          </p:cNvPr>
          <p:cNvSpPr>
            <a:spLocks noGrp="1"/>
          </p:cNvSpPr>
          <p:nvPr/>
        </p:nvSpPr>
        <p:spPr>
          <a:xfrm>
            <a:off x="1143000" y="2533650"/>
            <a:ext cx="233362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CollisionShape2D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EC4F3B-4359-4058-A206-A0416644B1A9}"/>
              </a:ext>
            </a:extLst>
          </p:cNvPr>
          <p:cNvSpPr>
            <a:spLocks noGrp="1"/>
          </p:cNvSpPr>
          <p:nvPr/>
        </p:nvSpPr>
        <p:spPr>
          <a:xfrm>
            <a:off x="3476625" y="2533650"/>
            <a:ext cx="171450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이동 충돌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E033003-7235-41F0-8187-465076D61082}"/>
              </a:ext>
            </a:extLst>
          </p:cNvPr>
          <p:cNvSpPr>
            <a:spLocks noGrp="1"/>
          </p:cNvSpPr>
          <p:nvPr/>
        </p:nvSpPr>
        <p:spPr>
          <a:xfrm>
            <a:off x="1000125" y="300990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420E4F-6F2F-418F-9B77-CB785D724291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233362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AnimatedSprite2D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A7BB31-45FC-405E-AED4-1CBBCDF7886D}"/>
              </a:ext>
            </a:extLst>
          </p:cNvPr>
          <p:cNvSpPr>
            <a:spLocks noGrp="1"/>
          </p:cNvSpPr>
          <p:nvPr/>
        </p:nvSpPr>
        <p:spPr>
          <a:xfrm>
            <a:off x="3476625" y="3048000"/>
            <a:ext cx="171450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대기·달리기·공격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203743E5-EDC6-4FD6-A868-9111EBBE2F24}"/>
              </a:ext>
            </a:extLst>
          </p:cNvPr>
          <p:cNvSpPr>
            <a:spLocks noGrp="1"/>
          </p:cNvSpPr>
          <p:nvPr/>
        </p:nvSpPr>
        <p:spPr>
          <a:xfrm>
            <a:off x="1000125" y="352425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8D1D0E-1423-4262-AC4F-B67037E4A46E}"/>
              </a:ext>
            </a:extLst>
          </p:cNvPr>
          <p:cNvSpPr>
            <a:spLocks noGrp="1"/>
          </p:cNvSpPr>
          <p:nvPr/>
        </p:nvSpPr>
        <p:spPr>
          <a:xfrm>
            <a:off x="1143000" y="3562350"/>
            <a:ext cx="233362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SwordTrail + Hitbox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D65F08-DE6E-43F2-80F7-B4349AECCE43}"/>
              </a:ext>
            </a:extLst>
          </p:cNvPr>
          <p:cNvSpPr>
            <a:spLocks noGrp="1"/>
          </p:cNvSpPr>
          <p:nvPr/>
        </p:nvSpPr>
        <p:spPr>
          <a:xfrm>
            <a:off x="3476625" y="3562350"/>
            <a:ext cx="171450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2연격 판정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600A787-51F5-409D-8422-A7EA28EA5F15}"/>
              </a:ext>
            </a:extLst>
          </p:cNvPr>
          <p:cNvSpPr>
            <a:spLocks noGrp="1"/>
          </p:cNvSpPr>
          <p:nvPr/>
        </p:nvSpPr>
        <p:spPr>
          <a:xfrm>
            <a:off x="1000125" y="403860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D0DA99-CFC2-4AF2-B1DC-80799634AB77}"/>
              </a:ext>
            </a:extLst>
          </p:cNvPr>
          <p:cNvSpPr>
            <a:spLocks noGrp="1"/>
          </p:cNvSpPr>
          <p:nvPr/>
        </p:nvSpPr>
        <p:spPr>
          <a:xfrm>
            <a:off x="1143000" y="4076700"/>
            <a:ext cx="233362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ThrustEffect + Hitbox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9E3704-1B72-4397-9A07-BDB41CD019AF}"/>
              </a:ext>
            </a:extLst>
          </p:cNvPr>
          <p:cNvSpPr>
            <a:spLocks noGrp="1"/>
          </p:cNvSpPr>
          <p:nvPr/>
        </p:nvSpPr>
        <p:spPr>
          <a:xfrm>
            <a:off x="3476625" y="4076700"/>
            <a:ext cx="171450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돌진·궤적 판정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1CC1E6B9-A0AB-4EA0-B152-B8DFE0457F3F}"/>
              </a:ext>
            </a:extLst>
          </p:cNvPr>
          <p:cNvSpPr>
            <a:spLocks noGrp="1"/>
          </p:cNvSpPr>
          <p:nvPr/>
        </p:nvSpPr>
        <p:spPr>
          <a:xfrm>
            <a:off x="1000125" y="455295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1F395B-C433-41FC-8E60-8E19D5F98776}"/>
              </a:ext>
            </a:extLst>
          </p:cNvPr>
          <p:cNvSpPr>
            <a:spLocks noGrp="1"/>
          </p:cNvSpPr>
          <p:nvPr/>
        </p:nvSpPr>
        <p:spPr>
          <a:xfrm>
            <a:off x="1143000" y="4591050"/>
            <a:ext cx="233362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Camera2D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0ABD0B6-7B6E-46A2-A936-B30833E61D76}"/>
              </a:ext>
            </a:extLst>
          </p:cNvPr>
          <p:cNvSpPr>
            <a:spLocks noGrp="1"/>
          </p:cNvSpPr>
          <p:nvPr/>
        </p:nvSpPr>
        <p:spPr>
          <a:xfrm>
            <a:off x="3476625" y="4591050"/>
            <a:ext cx="171450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camera_follow.gd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2CE39C4D-0A8D-43A5-8A73-0A2884D7B7AE}"/>
              </a:ext>
            </a:extLst>
          </p:cNvPr>
          <p:cNvSpPr>
            <a:spLocks noGrp="1"/>
          </p:cNvSpPr>
          <p:nvPr/>
        </p:nvSpPr>
        <p:spPr>
          <a:xfrm>
            <a:off x="6381750" y="1581150"/>
            <a:ext cx="5286375" cy="3695700"/>
          </a:xfrm>
          <a:prstGeom prst="roundRect">
            <a:avLst>
              <a:gd name="adj" fmla="val 2062"/>
            </a:avLst>
          </a:prstGeom>
          <a:solidFill>
            <a:srgbClr val="EAD6B9"/>
          </a:solidFill>
          <a:ln w="9525">
            <a:solidFill>
              <a:srgbClr val="C58A42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4EFFFE-8ACF-4060-AD1B-C2FAA65B4542}"/>
              </a:ext>
            </a:extLst>
          </p:cNvPr>
          <p:cNvSpPr>
            <a:spLocks noGrp="1"/>
          </p:cNvSpPr>
          <p:nvPr/>
        </p:nvSpPr>
        <p:spPr>
          <a:xfrm>
            <a:off x="6572250" y="1695450"/>
            <a:ext cx="490537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7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main.tscn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4CE10D1-A07E-487F-AA61-54857770B8B4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4905375" cy="2095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050" b="1">
                <a:solidFill>
                  <a:srgbClr val="C58A4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58A42"/>
                </a:solidFill>
                <a:latin typeface="Malgun Gothic"/>
                <a:ea typeface="Malgun Gothic"/>
                <a:cs typeface="Malgun Gothic"/>
              </a:rPr>
              <a:t>main (Node) · main.gd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83CF8D0-C892-4618-B1EC-498605221078}"/>
              </a:ext>
            </a:extLst>
          </p:cNvPr>
          <p:cNvSpPr>
            <a:spLocks noGrp="1"/>
          </p:cNvSpPr>
          <p:nvPr/>
        </p:nvSpPr>
        <p:spPr>
          <a:xfrm>
            <a:off x="8963025" y="2247900"/>
            <a:ext cx="28575" cy="247650"/>
          </a:xfrm>
          <a:prstGeom prst="rect">
            <a:avLst/>
          </a:prstGeom>
          <a:solidFill>
            <a:srgbClr val="C58A42"/>
          </a:solidFill>
          <a:ln w="0">
            <a:solidFill>
              <a:srgbClr val="C58A42"/>
            </a:solidFill>
            <a:prstDash val="solid"/>
          </a:ln>
        </p:spPr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E5BFE33-F226-41E2-B408-E46817B4B94D}"/>
              </a:ext>
            </a:extLst>
          </p:cNvPr>
          <p:cNvSpPr>
            <a:spLocks noGrp="1"/>
          </p:cNvSpPr>
          <p:nvPr/>
        </p:nvSpPr>
        <p:spPr>
          <a:xfrm>
            <a:off x="6858000" y="249555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225478D-CD46-4147-8532-5BDF065C697A}"/>
              </a:ext>
            </a:extLst>
          </p:cNvPr>
          <p:cNvSpPr>
            <a:spLocks noGrp="1"/>
          </p:cNvSpPr>
          <p:nvPr/>
        </p:nvSpPr>
        <p:spPr>
          <a:xfrm>
            <a:off x="7000875" y="2533650"/>
            <a:ext cx="166687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환경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0385ADC-19D1-4353-A9F0-58912682BEBD}"/>
              </a:ext>
            </a:extLst>
          </p:cNvPr>
          <p:cNvSpPr>
            <a:spLocks noGrp="1"/>
          </p:cNvSpPr>
          <p:nvPr/>
        </p:nvSpPr>
        <p:spPr>
          <a:xfrm>
            <a:off x="8667750" y="2533650"/>
            <a:ext cx="238125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DayNightCycle · GroundTileMap · Trees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3C07569D-A430-4797-AF42-E58DA2F2D055}"/>
              </a:ext>
            </a:extLst>
          </p:cNvPr>
          <p:cNvSpPr>
            <a:spLocks noGrp="1"/>
          </p:cNvSpPr>
          <p:nvPr/>
        </p:nvSpPr>
        <p:spPr>
          <a:xfrm>
            <a:off x="6858000" y="300990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B9E703F-34EF-4FBC-BDBA-127AFA6E41B6}"/>
              </a:ext>
            </a:extLst>
          </p:cNvPr>
          <p:cNvSpPr>
            <a:spLocks noGrp="1"/>
          </p:cNvSpPr>
          <p:nvPr/>
        </p:nvSpPr>
        <p:spPr>
          <a:xfrm>
            <a:off x="7000875" y="3048000"/>
            <a:ext cx="166687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Buildings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035519C-3B70-4D83-A0FD-695E52DD02E2}"/>
              </a:ext>
            </a:extLst>
          </p:cNvPr>
          <p:cNvSpPr>
            <a:spLocks noGrp="1"/>
          </p:cNvSpPr>
          <p:nvPr/>
        </p:nvSpPr>
        <p:spPr>
          <a:xfrm>
            <a:off x="8667750" y="3048000"/>
            <a:ext cx="238125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광산·대장간·관아·복원소·방어벽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135CFC35-C0B8-4747-A828-4F8F286202A7}"/>
              </a:ext>
            </a:extLst>
          </p:cNvPr>
          <p:cNvSpPr>
            <a:spLocks noGrp="1"/>
          </p:cNvSpPr>
          <p:nvPr/>
        </p:nvSpPr>
        <p:spPr>
          <a:xfrm>
            <a:off x="6858000" y="352425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50D33B4-9879-4DE2-8C67-56852C0118C8}"/>
              </a:ext>
            </a:extLst>
          </p:cNvPr>
          <p:cNvSpPr>
            <a:spLocks noGrp="1"/>
          </p:cNvSpPr>
          <p:nvPr/>
        </p:nvSpPr>
        <p:spPr>
          <a:xfrm>
            <a:off x="7000875" y="3562350"/>
            <a:ext cx="166687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Citizens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E45B293-16EA-4EDE-9E5A-61CCFA585096}"/>
              </a:ext>
            </a:extLst>
          </p:cNvPr>
          <p:cNvSpPr>
            <a:spLocks noGrp="1"/>
          </p:cNvSpPr>
          <p:nvPr/>
        </p:nvSpPr>
        <p:spPr>
          <a:xfrm>
            <a:off x="8667750" y="3562350"/>
            <a:ext cx="238125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주민 컨테이너 · 스폰 포인트 8개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A8FD4C5E-5C04-4257-94AA-67975829ED70}"/>
              </a:ext>
            </a:extLst>
          </p:cNvPr>
          <p:cNvSpPr>
            <a:spLocks noGrp="1"/>
          </p:cNvSpPr>
          <p:nvPr/>
        </p:nvSpPr>
        <p:spPr>
          <a:xfrm>
            <a:off x="6858000" y="403860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516C0AC-3012-467A-A309-254F5FFA408E}"/>
              </a:ext>
            </a:extLst>
          </p:cNvPr>
          <p:cNvSpPr>
            <a:spLocks noGrp="1"/>
          </p:cNvSpPr>
          <p:nvPr/>
        </p:nvSpPr>
        <p:spPr>
          <a:xfrm>
            <a:off x="7000875" y="4076700"/>
            <a:ext cx="166687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Animals / MobSpawner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96BB787-3251-430A-9312-03FA27ABC6A4}"/>
              </a:ext>
            </a:extLst>
          </p:cNvPr>
          <p:cNvSpPr>
            <a:spLocks noGrp="1"/>
          </p:cNvSpPr>
          <p:nvPr/>
        </p:nvSpPr>
        <p:spPr>
          <a:xfrm>
            <a:off x="8667750" y="4076700"/>
            <a:ext cx="238125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Passive·Hostile · 스폰 포인트 3+3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83D8B7B3-E8DD-4444-8A37-E74539E1B7CD}"/>
              </a:ext>
            </a:extLst>
          </p:cNvPr>
          <p:cNvSpPr>
            <a:spLocks noGrp="1"/>
          </p:cNvSpPr>
          <p:nvPr/>
        </p:nvSpPr>
        <p:spPr>
          <a:xfrm>
            <a:off x="6858000" y="4552950"/>
            <a:ext cx="4333875" cy="400050"/>
          </a:xfrm>
          <a:prstGeom prst="roundRect">
            <a:avLst>
              <a:gd name="adj" fmla="val 19048"/>
            </a:avLst>
          </a:prstGeom>
          <a:solidFill>
            <a:srgbClr val="F5F1E8"/>
          </a:solidFill>
          <a:ln w="9525">
            <a:solidFill>
              <a:srgbClr val="A9B2AD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D342ED2-6B7A-4313-BFC7-DA9436439295}"/>
              </a:ext>
            </a:extLst>
          </p:cNvPr>
          <p:cNvSpPr>
            <a:spLocks noGrp="1"/>
          </p:cNvSpPr>
          <p:nvPr/>
        </p:nvSpPr>
        <p:spPr>
          <a:xfrm>
            <a:off x="7000875" y="4591050"/>
            <a:ext cx="1666875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l">
              <a:def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421"/>
                </a:solidFill>
                <a:latin typeface="Malgun Gothic"/>
                <a:ea typeface="Malgun Gothic"/>
                <a:cs typeface="Malgun Gothic"/>
              </a:rPr>
              <a:t>게임 객체·UI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BA4FF70-5B5A-4C18-A82C-AAE55B5E7D2B}"/>
              </a:ext>
            </a:extLst>
          </p:cNvPr>
          <p:cNvSpPr>
            <a:spLocks noGrp="1"/>
          </p:cNvSpPr>
          <p:nvPr/>
        </p:nvSpPr>
        <p:spPr>
          <a:xfrm>
            <a:off x="8667750" y="4591050"/>
            <a:ext cx="2381250" cy="30480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r">
              <a:def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27B76"/>
                </a:solidFill>
                <a:latin typeface="Malgun Gothic"/>
                <a:ea typeface="Malgun Gothic"/>
                <a:cs typeface="Malgun Gothic"/>
              </a:rPr>
              <a:t>Player · Pickups · HUD · 메뉴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84ABC9E-9183-42B7-A616-787D9A84CD62}"/>
              </a:ext>
            </a:extLst>
          </p:cNvPr>
          <p:cNvSpPr>
            <a:spLocks noGrp="1"/>
          </p:cNvSpPr>
          <p:nvPr/>
        </p:nvSpPr>
        <p:spPr>
          <a:xfrm>
            <a:off x="619125" y="5467350"/>
            <a:ext cx="5191125" cy="5905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75" b="1">
                <a:solidFill>
                  <a:srgbClr val="557A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57A62"/>
                </a:solidFill>
                <a:latin typeface="Malgun Gothic"/>
                <a:ea typeface="Malgun Gothic"/>
                <a:cs typeface="Malgun Gothic"/>
              </a:rPr>
              <a:t>player.gd가 입력·이동·공격 상태를 조정하고,</a:t>
            </a:r>
          </a:p>
          <a:p>
            <a:pPr algn="ctr">
              <a:defRPr sz="1275" b="1">
                <a:solidFill>
                  <a:srgbClr val="557A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57A62"/>
                </a:solidFill>
                <a:latin typeface="Malgun Gothic"/>
                <a:ea typeface="Malgun Gothic"/>
                <a:cs typeface="Malgun Gothic"/>
              </a:rPr>
              <a:t>공격 이펙트와 판정 노드는 서로 분리되어 있다.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5827106-153A-4FE0-941C-2DFC0F14C4A6}"/>
              </a:ext>
            </a:extLst>
          </p:cNvPr>
          <p:cNvSpPr>
            <a:spLocks noGrp="1"/>
          </p:cNvSpPr>
          <p:nvPr/>
        </p:nvSpPr>
        <p:spPr>
          <a:xfrm>
            <a:off x="6381750" y="5467350"/>
            <a:ext cx="5286375" cy="590550"/>
          </a:xfrm>
          <a:prstGeom prst="rect">
            <a:avLst/>
          </a:prstGeom>
          <a:ln w="0"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75" b="1">
                <a:solidFill>
                  <a:srgbClr val="C58A4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58A42"/>
                </a:solidFill>
                <a:latin typeface="Malgun Gothic"/>
                <a:ea typeface="Malgun Gothic"/>
                <a:cs typeface="Malgun Gothic"/>
              </a:rPr>
              <a:t>main.gd가 날짜·습격·주민 보충·승리를 조정하며,</a:t>
            </a:r>
          </a:p>
          <a:p>
            <a:pPr algn="ctr">
              <a:defRPr sz="1275" b="1">
                <a:solidFill>
                  <a:srgbClr val="C58A4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58A42"/>
                </a:solidFill>
                <a:latin typeface="Malgun Gothic"/>
                <a:ea typeface="Malgun Gothic"/>
                <a:cs typeface="Malgun Gothic"/>
              </a:rPr>
              <a:t>환경·건물·개체·UI를 기능별 자식 노드로 관리한다.</a:t>
            </a:r>
          </a:p>
        </p:txBody>
      </p:sp>
    </p:spTree>
    <p:extLst>
      <p:ext uri="{BB962C8B-B14F-4D97-AF65-F5344CB8AC3E}">
        <p14:creationId xmlns:p14="http://schemas.microsoft.com/office/powerpoint/2010/main" val="120225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CB25A9-AF7E-4167-A7BC-6CA3C6F049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E3760B-34BD-4F52-9ECE-2417E7E12C94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66675" cy="209550"/>
          </a:xfrm>
          <a:prstGeom prst="rect">
            <a:avLst/>
          </a:prstGeom>
          <a:solidFill>
            <a:srgbClr val="557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CB5B51-C023-4F93-84E0-1AC693C14E52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PROBLEM SOLVING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2E287C-8770-41F2-B783-DFA02B7994EF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lang="en-US"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7</a:t>
            </a:r>
            <a:r>
              <a:rPr sz="315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.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문제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해결</a:t>
            </a:r>
            <a:r>
              <a:rPr sz="315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315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과정</a:t>
            </a:r>
            <a:endParaRPr sz="315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FD76B3-4B78-43C8-92B0-31CFA76F1DF0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4D2F8B-365C-4CCB-9DEB-44A7D7FA41A7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3000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425" b="1">
                <a:solidFill>
                  <a:srgbClr val="A6544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5448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D53447-1EDB-4E9A-BBA7-BE85C763FFEB}"/>
              </a:ext>
            </a:extLst>
          </p:cNvPr>
          <p:cNvSpPr>
            <a:spLocks noGrp="1"/>
          </p:cNvSpPr>
          <p:nvPr/>
        </p:nvSpPr>
        <p:spPr>
          <a:xfrm>
            <a:off x="4286250" y="16192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4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구현</a:t>
            </a:r>
            <a:r>
              <a:rPr sz="1425" b="1" dirty="0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lang="ko-KR" altLang="en-US" sz="1425" b="1" dirty="0" smtClean="0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방식</a:t>
            </a:r>
            <a:endParaRPr lang="en-US" altLang="ko-KR" sz="1425" b="1" dirty="0" smtClean="0">
              <a:solidFill>
                <a:srgbClr val="557A6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9FF380-D4AB-4FC3-92C9-FF74EC84FD91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425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58A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결과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01FB5D-F059-4FA5-8D72-66F907F82B3C}"/>
              </a:ext>
            </a:extLst>
          </p:cNvPr>
          <p:cNvSpPr>
            <a:spLocks noGrp="1"/>
          </p:cNvSpPr>
          <p:nvPr/>
        </p:nvSpPr>
        <p:spPr>
          <a:xfrm>
            <a:off x="552450" y="2143125"/>
            <a:ext cx="10972800" cy="971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ADEE82-1D37-4005-A3C3-C2AE8FACF82B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2857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몹끼리 접촉하면 밀림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52B36C-FED2-4E30-8677-DA6C0BC65FE3}"/>
              </a:ext>
            </a:extLst>
          </p:cNvPr>
          <p:cNvSpPr>
            <a:spLocks noGrp="1"/>
          </p:cNvSpPr>
          <p:nvPr/>
        </p:nvSpPr>
        <p:spPr>
          <a:xfrm>
            <a:off x="4286250" y="2324100"/>
            <a:ext cx="3333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5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500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몹</a:t>
            </a:r>
            <a:r>
              <a:rPr lang="ko-KR" altLang="en-US" sz="15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레이어 구분</a:t>
            </a:r>
            <a:endParaRPr sz="150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22B36D-4DF9-402C-A9C6-5BBB7404ED45}"/>
              </a:ext>
            </a:extLst>
          </p:cNvPr>
          <p:cNvSpPr>
            <a:spLocks noGrp="1"/>
          </p:cNvSpPr>
          <p:nvPr/>
        </p:nvSpPr>
        <p:spPr>
          <a:xfrm>
            <a:off x="8334375" y="2324100"/>
            <a:ext cx="2714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57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7A6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개체끼리 통과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A4316E-7AA1-4000-83E5-44049CF1C1CE}"/>
              </a:ext>
            </a:extLst>
          </p:cNvPr>
          <p:cNvSpPr>
            <a:spLocks noGrp="1"/>
          </p:cNvSpPr>
          <p:nvPr/>
        </p:nvSpPr>
        <p:spPr>
          <a:xfrm>
            <a:off x="552450" y="3400425"/>
            <a:ext cx="10972800" cy="971550"/>
          </a:xfrm>
          <a:prstGeom prst="rect">
            <a:avLst/>
          </a:prstGeom>
          <a:solidFill>
            <a:srgbClr val="EEE9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2854F1-A444-42B2-A34C-EAACFA79A8BF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2857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주민 사망 후 회복 불가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F6C430-5CA0-4E6F-B6F6-6E5B7C036FFF}"/>
              </a:ext>
            </a:extLst>
          </p:cNvPr>
          <p:cNvSpPr>
            <a:spLocks noGrp="1"/>
          </p:cNvSpPr>
          <p:nvPr/>
        </p:nvSpPr>
        <p:spPr>
          <a:xfrm>
            <a:off x="4286250" y="3581400"/>
            <a:ext cx="3333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5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0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관아</a:t>
            </a:r>
            <a:r>
              <a:rPr sz="150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</a:t>
            </a:r>
            <a:r>
              <a:rPr sz="1500" b="1" dirty="0" err="1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수용력</a:t>
            </a:r>
            <a:r>
              <a:rPr lang="ko-KR" altLang="en-US" sz="15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까지 매</a:t>
            </a:r>
            <a:r>
              <a:rPr sz="1500" b="1" dirty="0" smtClean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일 </a:t>
            </a:r>
            <a:r>
              <a:rPr sz="150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보충</a:t>
            </a:r>
            <a:endParaRPr sz="1500" b="1" dirty="0">
              <a:solidFill>
                <a:srgbClr val="15242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pto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25D10E-17CA-4838-B822-F8C986DB9966}"/>
              </a:ext>
            </a:extLst>
          </p:cNvPr>
          <p:cNvSpPr>
            <a:spLocks noGrp="1"/>
          </p:cNvSpPr>
          <p:nvPr/>
        </p:nvSpPr>
        <p:spPr>
          <a:xfrm>
            <a:off x="8334375" y="3581400"/>
            <a:ext cx="2714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575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58A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하루 1명 복구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21DB8C-9165-44D1-8F32-72031F994D2B}"/>
              </a:ext>
            </a:extLst>
          </p:cNvPr>
          <p:cNvSpPr>
            <a:spLocks noGrp="1"/>
          </p:cNvSpPr>
          <p:nvPr/>
        </p:nvSpPr>
        <p:spPr>
          <a:xfrm>
            <a:off x="552450" y="4657725"/>
            <a:ext cx="10972800" cy="971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53C2F0-0341-41A9-A1C2-6B9B8CF4348A}"/>
              </a:ext>
            </a:extLst>
          </p:cNvPr>
          <p:cNvSpPr>
            <a:spLocks noGrp="1"/>
          </p:cNvSpPr>
          <p:nvPr/>
        </p:nvSpPr>
        <p:spPr>
          <a:xfrm>
            <a:off x="762000" y="4838700"/>
            <a:ext cx="2857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습격 규모가 모호함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6B27A5-4008-4CAB-9AA8-AF1FC65CD42D}"/>
              </a:ext>
            </a:extLst>
          </p:cNvPr>
          <p:cNvSpPr>
            <a:spLocks noGrp="1"/>
          </p:cNvSpPr>
          <p:nvPr/>
        </p:nvSpPr>
        <p:spPr>
          <a:xfrm>
            <a:off x="4286250" y="4838700"/>
            <a:ext cx="3333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5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3일 </a:t>
            </a:r>
            <a:r>
              <a:rPr sz="150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주기</a:t>
            </a:r>
            <a:r>
              <a:rPr sz="150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· 30일 · </a:t>
            </a:r>
            <a:r>
              <a:rPr sz="1500" b="1" dirty="0" err="1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최대</a:t>
            </a:r>
            <a:r>
              <a:rPr sz="1500" b="1" dirty="0">
                <a:solidFill>
                  <a:srgbClr val="15242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 15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5F4C5B-71ED-4DBE-A4CC-D967445EC730}"/>
              </a:ext>
            </a:extLst>
          </p:cNvPr>
          <p:cNvSpPr>
            <a:spLocks noGrp="1"/>
          </p:cNvSpPr>
          <p:nvPr/>
        </p:nvSpPr>
        <p:spPr>
          <a:xfrm>
            <a:off x="8334375" y="4838700"/>
            <a:ext cx="2714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buNone/>
              <a:defRPr sz="1575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58A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ptos"/>
              </a:rPr>
              <a:t>난이도 규칙 확립</a:t>
            </a:r>
          </a:p>
        </p:txBody>
      </p:sp>
    </p:spTree>
    <p:extLst>
      <p:ext uri="{BB962C8B-B14F-4D97-AF65-F5344CB8AC3E}">
        <p14:creationId xmlns:p14="http://schemas.microsoft.com/office/powerpoint/2010/main" val="14230497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492</Words>
  <Application>Microsoft Office PowerPoint</Application>
  <DocSecurity>0</DocSecurity>
  <PresentationFormat>와이드스크린</PresentationFormat>
  <Paragraphs>149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Aptos</vt:lpstr>
      <vt:lpstr>Yu Gothic UI Semibold</vt:lpstr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10</cp:revision>
  <dcterms:created xsi:type="dcterms:W3CDTF">2026-06-14T11:04:23Z</dcterms:created>
  <dcterms:modified xsi:type="dcterms:W3CDTF">2026-06-14T13:34:22Z</dcterms:modified>
</cp:coreProperties>
</file>