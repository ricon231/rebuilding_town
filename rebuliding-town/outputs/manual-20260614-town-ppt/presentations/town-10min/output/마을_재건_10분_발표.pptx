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aab00bb1b148cf" /><Relationship Type="http://schemas.openxmlformats.org/officeDocument/2006/relationships/extended-properties" Target="/docProps/app.xml" Id="R64f1c637281f4629" /><Relationship Type="http://schemas.openxmlformats.org/officeDocument/2006/relationships/officeDocument" Target="/ppt/presentation.xml" Id="Reb81dd874b154c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0eb9fdb82446df"/>
  </p:sldMasterIdLst>
  <p:notesMasterIdLst>
    <p:notesMasterId xmlns:r="http://schemas.openxmlformats.org/officeDocument/2006/relationships" r:id="R3616b5d067fa4b06"/>
  </p:notesMasterIdLst>
  <p:sldIdLst>
    <p:sldId xmlns:r="http://schemas.openxmlformats.org/officeDocument/2006/relationships" id="256" r:id="R44fd346ceaef4f00"/>
    <p:sldId xmlns:r="http://schemas.openxmlformats.org/officeDocument/2006/relationships" id="257" r:id="Rf45864ed1289420d"/>
    <p:sldId xmlns:r="http://schemas.openxmlformats.org/officeDocument/2006/relationships" id="258" r:id="Rf2de16b29de9442a"/>
    <p:sldId xmlns:r="http://schemas.openxmlformats.org/officeDocument/2006/relationships" id="259" r:id="Rb53d71089915494e"/>
    <p:sldId xmlns:r="http://schemas.openxmlformats.org/officeDocument/2006/relationships" id="260" r:id="Rd258d792d0a24520"/>
    <p:sldId xmlns:r="http://schemas.openxmlformats.org/officeDocument/2006/relationships" id="261" r:id="Re745f202d2694dd7"/>
    <p:sldId xmlns:r="http://schemas.openxmlformats.org/officeDocument/2006/relationships" id="262" r:id="Rcb93eda0bce74743"/>
    <p:sldId xmlns:r="http://schemas.openxmlformats.org/officeDocument/2006/relationships" id="263" r:id="R63d0db2072604bf1"/>
    <p:sldId xmlns:r="http://schemas.openxmlformats.org/officeDocument/2006/relationships" id="264" r:id="R5efb53b2328741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28582d9fa24d27" /><Relationship Type="http://schemas.openxmlformats.org/officeDocument/2006/relationships/slideMaster" Target="/ppt/slideMasters/slideMaster1.xml" Id="Rda0eb9fdb82446df" /><Relationship Type="http://schemas.openxmlformats.org/officeDocument/2006/relationships/notesMaster" Target="/ppt/notesMasters/notesMaster1.xml" Id="R3616b5d067fa4b06" /><Relationship Type="http://schemas.openxmlformats.org/officeDocument/2006/relationships/presProps" Target="/ppt/presProps.xml" Id="Ref376d3ed0e54c75" /><Relationship Type="http://schemas.openxmlformats.org/officeDocument/2006/relationships/viewProps" Target="/ppt/viewProps.xml" Id="Refec728ceccc4c32" /><Relationship Type="http://schemas.openxmlformats.org/officeDocument/2006/relationships/tableStyles" Target="/ppt/tableStyles.xml" Id="R663f6efc001b48ec" /><Relationship Type="http://schemas.openxmlformats.org/officeDocument/2006/relationships/slide" Target="/ppt/slides/slide1.xml" Id="R44fd346ceaef4f00" /><Relationship Type="http://schemas.openxmlformats.org/officeDocument/2006/relationships/slide" Target="/ppt/slides/slide2.xml" Id="Rf45864ed1289420d" /><Relationship Type="http://schemas.openxmlformats.org/officeDocument/2006/relationships/slide" Target="/ppt/slides/slide3.xml" Id="Rf2de16b29de9442a" /><Relationship Type="http://schemas.openxmlformats.org/officeDocument/2006/relationships/slide" Target="/ppt/slides/slide4.xml" Id="Rb53d71089915494e" /><Relationship Type="http://schemas.openxmlformats.org/officeDocument/2006/relationships/slide" Target="/ppt/slides/slide5.xml" Id="Rd258d792d0a24520" /><Relationship Type="http://schemas.openxmlformats.org/officeDocument/2006/relationships/slide" Target="/ppt/slides/slide6.xml" Id="Re745f202d2694dd7" /><Relationship Type="http://schemas.openxmlformats.org/officeDocument/2006/relationships/slide" Target="/ppt/slides/slide7.xml" Id="Rcb93eda0bce74743" /><Relationship Type="http://schemas.openxmlformats.org/officeDocument/2006/relationships/slide" Target="/ppt/slides/slide8.xml" Id="R63d0db2072604bf1" /><Relationship Type="http://schemas.openxmlformats.org/officeDocument/2006/relationships/slide" Target="/ppt/slides/slide9.xml" Id="R5efb53b2328741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5b9b42eb2e4c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4db45de0044d36" /><Relationship Type="http://schemas.openxmlformats.org/officeDocument/2006/relationships/notesMaster" Target="/ppt/notesMasters/notesMaster1.xml" Id="R4846963f908843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40da08327d42f6" /><Relationship Type="http://schemas.openxmlformats.org/officeDocument/2006/relationships/notesMaster" Target="/ppt/notesMasters/notesMaster1.xml" Id="R34e1edb6affe45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2840361e2044e7" /><Relationship Type="http://schemas.openxmlformats.org/officeDocument/2006/relationships/notesMaster" Target="/ppt/notesMasters/notesMaster1.xml" Id="Reff18f07220e45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bddab1bb43467f" /><Relationship Type="http://schemas.openxmlformats.org/officeDocument/2006/relationships/notesMaster" Target="/ppt/notesMasters/notesMaster1.xml" Id="Rf4e7f11f7e0940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018540a44f4e97" /><Relationship Type="http://schemas.openxmlformats.org/officeDocument/2006/relationships/notesMaster" Target="/ppt/notesMasters/notesMaster1.xml" Id="R3b329bdbf1824d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663e36f87d4629" /><Relationship Type="http://schemas.openxmlformats.org/officeDocument/2006/relationships/notesMaster" Target="/ppt/notesMasters/notesMaster1.xml" Id="R053f2551f4624c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ae3a5219174267" /><Relationship Type="http://schemas.openxmlformats.org/officeDocument/2006/relationships/notesMaster" Target="/ppt/notesMasters/notesMaster1.xml" Id="R8ddaa0e2edf3440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1bb3688e23458b" /><Relationship Type="http://schemas.openxmlformats.org/officeDocument/2006/relationships/notesMaster" Target="/ppt/notesMasters/notesMaster1.xml" Id="R4d826c34a48148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64f403801f4614" /><Relationship Type="http://schemas.openxmlformats.org/officeDocument/2006/relationships/notesMaster" Target="/ppt/notesMasters/notesMaster1.xml" Id="R4ea41970b8d241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695a958284d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82c1e3dc5c4351" /><Relationship Type="http://schemas.openxmlformats.org/officeDocument/2006/relationships/slideLayout" Target="/ppt/slideLayouts/slideLayout1.xml" Id="R767cc454eeac42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7cc454eeac42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afaface674fd7" /><Relationship Type="http://schemas.openxmlformats.org/officeDocument/2006/relationships/notesSlide" Target="/ppt/notesSlides/notesSlide1.xml" Id="R6d7dd048ab554e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4f4eb0db54a66" /><Relationship Type="http://schemas.openxmlformats.org/officeDocument/2006/relationships/notesSlide" Target="/ppt/notesSlides/notesSlide2.xml" Id="Rd0f1fca441f14d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32cb873084768" /><Relationship Type="http://schemas.openxmlformats.org/officeDocument/2006/relationships/notesSlide" Target="/ppt/notesSlides/notesSlide3.xml" Id="R6dc381d8e33649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8055582f964967" /><Relationship Type="http://schemas.openxmlformats.org/officeDocument/2006/relationships/notesSlide" Target="/ppt/notesSlides/notesSlide4.xml" Id="R769742c12eb646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e0610a9cd480d" /><Relationship Type="http://schemas.openxmlformats.org/officeDocument/2006/relationships/notesSlide" Target="/ppt/notesSlides/notesSlide5.xml" Id="R26bd70a1c75d44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8ba6143f84b09" /><Relationship Type="http://schemas.openxmlformats.org/officeDocument/2006/relationships/notesSlide" Target="/ppt/notesSlides/notesSlide6.xml" Id="Rf5827a209a7147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911785e294f05" /><Relationship Type="http://schemas.openxmlformats.org/officeDocument/2006/relationships/notesSlide" Target="/ppt/notesSlides/notesSlide7.xml" Id="R76e656fe572643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c9e001031472f" /><Relationship Type="http://schemas.openxmlformats.org/officeDocument/2006/relationships/notesSlide" Target="/ppt/notesSlides/notesSlide8.xml" Id="R13f85496d4f04b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46ea346da47fe" /><Relationship Type="http://schemas.openxmlformats.org/officeDocument/2006/relationships/notesSlide" Target="/ppt/notesSlides/notesSlide9.xml" Id="Rd21e570c74b34f8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3E1862-91CB-4505-9FD9-53F0BCF3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6E476-B7C4-4522-9D15-90811B65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EC4AD-3818-4B23-AC5D-3F88BC3B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AD6B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AD6B9"/>
                </a:solidFill>
                <a:latin typeface="Aptos"/>
                <a:ea typeface="Aptos"/>
                <a:cs typeface="Aptos"/>
              </a:rPr>
              <a:t>GODOT GAME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863BE-1B11-4F66-8583-4B62DC70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14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전투의 결과가</a:t>
            </a:r>
          </a:p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마을의 변화로 남는다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3E272A-877C-4FF7-90C1-78DE4C2D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7D2C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7D2CD"/>
                </a:solidFill>
                <a:latin typeface="Aptos"/>
                <a:ea typeface="Aptos"/>
                <a:cs typeface="Aptos"/>
              </a:rPr>
              <a:t>마을 재건 · Rebuilding Town</a:t>
            </a:r>
          </a:p>
          <a:p xmlns:a="http://schemas.openxmlformats.org/drawingml/2006/main">
            <a:pPr algn="l">
              <a:defRPr sz="1725" b="0">
                <a:solidFill>
                  <a:srgbClr val="C7D2C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7D2CD"/>
                </a:solidFill>
                <a:latin typeface="Aptos"/>
                <a:ea typeface="Aptos"/>
                <a:cs typeface="Aptos"/>
              </a:rPr>
              <a:t>2D 액션 + 마을 운영 + 유물 수집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C4DF7-09EF-45E4-9150-61315451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81050"/>
            <a:ext cx="50482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30"/>
          </a:solidFill>
          <a:ln xmlns:a="http://schemas.openxmlformats.org/drawingml/2006/main" w="19050">
            <a:solidFill>
              <a:srgbClr val="8BA096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01E57-47E4-46C7-9CC1-9EB4333B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59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AD6B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D6B9"/>
                </a:solidFill>
                <a:latin typeface="Aptos"/>
                <a:ea typeface="Aptos"/>
                <a:cs typeface="Aptos"/>
              </a:rPr>
              <a:t>사진 삽입 위치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61CEC-5E13-461F-9302-3B997102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00400"/>
            <a:ext cx="44005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게임 타이틀 화면 또는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건물과 주민이 함께 보이는 마을 전경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2870DB-1F60-446A-9828-C3B03C1E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EB9B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EB9B4"/>
                </a:solidFill>
                <a:latin typeface="Aptos"/>
                <a:ea typeface="Aptos"/>
                <a:cs typeface="Aptos"/>
              </a:rPr>
              <a:t>발표자 [이름]  |  객체지향 프로그래밍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C443D-00BD-4692-A377-210ABF2F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EB9B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B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839127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F1DD0E-A0C1-4E65-8302-237E2612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720FC-24E3-4C52-9578-43F57F09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7440E-B544-4166-8460-D9C3A39F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CORE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D524D-866D-446C-93C9-3144C179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모든 행동은 하나의 성장 순환으로 돌아온다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E47F0-2F6D-4EA8-BD3E-7A44427C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F6A51-084C-42CA-8367-20E4A5C3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790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8E2D8"/>
          </a:solidFill>
          <a:ln xmlns:a="http://schemas.openxmlformats.org/drawingml/2006/main" w="19050">
            <a:solidFill>
              <a:srgbClr val="557A6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C17B8-DB98-454B-9475-CD510444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탐색·전투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1E3A3-712F-40C3-8E9D-73996F5C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몹 처치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C22B8-DB0D-453A-8257-3CDE959B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190750"/>
            <a:ext cx="247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82681-5C52-4967-8EEB-0C9FEEBF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09750"/>
            <a:ext cx="1790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8E2D8"/>
          </a:solidFill>
          <a:ln xmlns:a="http://schemas.openxmlformats.org/drawingml/2006/main" w="19050">
            <a:solidFill>
              <a:srgbClr val="557A6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954B5-FE5A-4095-8C78-6DA1069D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383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자원 획득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D4E09-DA17-47EF-ADFF-1C7821A10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574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동전·손상 유물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93717-1415-4DC7-907C-6476CA38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247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AA7EF9-CFFC-4E30-A2A2-C959AABD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09750"/>
            <a:ext cx="1790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8E2D8"/>
          </a:solidFill>
          <a:ln xmlns:a="http://schemas.openxmlformats.org/drawingml/2006/main" w="19050">
            <a:solidFill>
              <a:srgbClr val="557A6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40B7B2-F85A-4D26-8E0B-C34104BB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383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마을 재건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C4835-9119-447C-942E-9A0B9707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574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건물 단계 상승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E47E22-D58E-4FEB-BD92-68F077A7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90750"/>
            <a:ext cx="247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00F3CD-5FC2-4C3D-90D0-0E0104E1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1790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8E2D8"/>
          </a:solidFill>
          <a:ln xmlns:a="http://schemas.openxmlformats.org/drawingml/2006/main" w="19050">
            <a:solidFill>
              <a:srgbClr val="557A6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1C2F33-F757-4D71-AFC0-B1F8123B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383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유물 복원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8B2FB1-2B0F-4A75-AB05-4D051036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574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효과·도감 등록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301AB3-15FB-415C-9D98-D8B67DD8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90750"/>
            <a:ext cx="2476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F149C3-0C10-433D-8293-BF7207A7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809750"/>
            <a:ext cx="17907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AD6B9"/>
          </a:solidFill>
          <a:ln xmlns:a="http://schemas.openxmlformats.org/drawingml/2006/main" w="19050">
            <a:solidFill>
              <a:srgbClr val="C58A4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4B00CC-CA57-4603-A92F-C9DE55CB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38350"/>
            <a:ext cx="1562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습격 방어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C2BAA8-BA34-42EC-BD96-25B8BD2A9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574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다음 날짜 생존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B8A38A-62B4-4D89-B7D8-8B8DDBCA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6625"/>
            <a:ext cx="4905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핵심 차별점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5BC82C-B075-4190-9B62-479BC2FD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476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전투 보상이 능력치에서 끝나지 않고</a:t>
            </a:r>
          </a:p>
          <a:p xmlns:a="http://schemas.openxmlformats.org/drawingml/2006/main">
            <a:pPr algn="l">
              <a:defRPr sz="18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건물·주민·유물이라는 마을 변화로 축적된다.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2E1542-12BA-4752-8013-D4B32A55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5334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E6"/>
          </a:solidFill>
          <a:ln xmlns:a="http://schemas.openxmlformats.org/drawingml/2006/main" w="19050">
            <a:solidFill>
              <a:srgbClr val="727B76"/>
            </a:solidFill>
            <a:prstDash val="dash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1DE3C2-929B-4CBA-9414-8240F660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14825"/>
            <a:ext cx="487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사진 삽입 위치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6A1471-A762-46A7-871E-3F696AF4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57725"/>
            <a:ext cx="4686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몹 처치 직후 동전과 손상 유물이</a:t>
            </a:r>
          </a:p>
          <a:p xmlns:a="http://schemas.openxmlformats.org/drawingml/2006/main">
            <a:pPr algn="ctr"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동시에 드롭된 장면</a:t>
            </a:r>
          </a:p>
        </p:txBody>
      </p:sp>
    </p:spTree>
    <p:extLst>
      <p:ext uri="{BB962C8B-B14F-4D97-AF65-F5344CB8AC3E}">
        <p14:creationId xmlns:p14="http://schemas.microsoft.com/office/powerpoint/2010/main" val="18483956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0B6BFF-90EA-4D1D-AB26-9A867335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B83AA-B519-4EA9-A45F-9BF2D0AE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2F884-83BD-4623-94A7-FF4C1E78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COMBAT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5BEBB-032A-4354-AC1E-6DB8916E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두 공격은 속도와 역할이 명확히 다르다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3A565A-3CC4-4BA1-AD0C-72AE5CC6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8A75DA-5436-4D97-8382-C815B891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8E2D8"/>
          </a:solidFill>
          <a:ln xmlns:a="http://schemas.openxmlformats.org/drawingml/2006/main" w="0">
            <a:solidFill>
              <a:srgbClr val="D8E2D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6FE96-BDF3-4429-83E4-41B01F22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좌클릭 · 2연격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6C8FE-876A-4F45-A26C-56C6FD52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66950"/>
            <a:ext cx="4000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기본 공격 26</a:t>
            </a:r>
          </a:p>
          <a:p xmlns:a="http://schemas.openxmlformats.org/drawingml/2006/main">
            <a:pPr algn="l">
              <a:defRPr sz="18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두 번째 공격은 1.35배 피해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9C01FB-A384-47F4-ADFC-1A7240E5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43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D6B9"/>
          </a:solidFill>
          <a:ln xmlns:a="http://schemas.openxmlformats.org/drawingml/2006/main" w="0">
            <a:solidFill>
              <a:srgbClr val="EAD6B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12BB3-D48D-44DF-A509-58B40E73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우클릭 · 찌르기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794B89-3A31-4EA6-A5EB-74223FC3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44767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준비 → 128px 고속 돌진 → 준비 복귀</a:t>
            </a:r>
          </a:p>
          <a:p xmlns:a="http://schemas.openxmlformats.org/drawingml/2006/main">
            <a:pPr algn="l">
              <a:defRPr sz="17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궤적은 두 번째 프레임으로 0.2초 페이드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D2156-EBF3-44FD-97F2-069C1B31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4333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몹·주민은 서로 밀지 않고 통과하도록</a:t>
            </a:r>
          </a:p>
          <a:p xmlns:a="http://schemas.openxmlformats.org/drawingml/2006/main">
            <a:pPr algn="l">
              <a:defRPr sz="135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충돌 레이어를 분리했다.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173928-4691-490D-9A51-B85C00BA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76400"/>
            <a:ext cx="60483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E6"/>
          </a:solidFill>
          <a:ln xmlns:a="http://schemas.openxmlformats.org/drawingml/2006/main" w="19050">
            <a:solidFill>
              <a:srgbClr val="727B76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E841F-ADFD-4715-ABA5-C83A55B6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443288"/>
            <a:ext cx="55911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사진 삽입 위치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F40129-89E8-4967-8067-97B4B3AD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786188"/>
            <a:ext cx="5400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플레이어가 적을 향해 찌르며</a:t>
            </a:r>
          </a:p>
          <a:p xmlns:a="http://schemas.openxmlformats.org/drawingml/2006/main">
            <a:pPr algn="ctr"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고정 궤적 이펙트가 남는 전투 화면</a:t>
            </a:r>
          </a:p>
        </p:txBody>
      </p:sp>
    </p:spTree>
    <p:extLst>
      <p:ext uri="{BB962C8B-B14F-4D97-AF65-F5344CB8AC3E}">
        <p14:creationId xmlns:p14="http://schemas.microsoft.com/office/powerpoint/2010/main" val="20813921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435072-4268-4600-BBA4-AB84548E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90A95-4F99-47BF-8163-81D2F107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84366-01F0-4E6A-9ED2-B6C5F940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TOWN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B0E60-16FF-434F-8886-1A0E2A46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네 건물은 서로 다른 장기 성장 축을 담당한다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572B6-CB08-4B95-B4C7-A62BA3D4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A3F60-19EB-4A5C-B058-1AB205F5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2476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9E3659-8700-4C6E-83B0-57BBC379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240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광산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1B3E5-83FA-4FB2-BCB6-A491D3B5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2887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경제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E05EC-35EB-47F7-BCF3-9AA7847E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65B3AB-725D-4C42-8FA6-7F762012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매일 단계 × 2 동전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062F3-C719-4CB1-B5BE-FCCDB5E0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95450"/>
            <a:ext cx="2476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6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C0DAD-1D23-4785-865B-B96F0127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240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대장간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34668-81E6-45A3-9AE8-3E7C6378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2887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65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65448"/>
                </a:solidFill>
                <a:latin typeface="Aptos"/>
                <a:ea typeface="Aptos"/>
                <a:cs typeface="Aptos"/>
              </a:rPr>
              <a:t>전투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86B1B-C1C7-4758-B062-40B114A2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A79187-8947-428C-B0CA-40D565D8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95625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단계마다 공격력 +15%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9DC007-BA32-4455-90F4-CAE6843E8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95450"/>
            <a:ext cx="2476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C6797-9C75-4DF2-88B5-2EE81D9D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관아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1E107F-B01C-47A8-A43F-80A5DD22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2887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인구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83FFF4-FE8C-4C75-BC45-63704C0A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C1F827-FD9D-4ACC-94C9-C50F1DA3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95625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단계 × 2명 · 최대 8명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53B119-9702-47FF-9538-57B1A60C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95450"/>
            <a:ext cx="2476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D6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62206F-467D-4C12-A051-16508DA8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240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복원소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270657-0B13-4B9E-9229-71C46EC9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2887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65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65448"/>
                </a:solidFill>
                <a:latin typeface="Aptos"/>
                <a:ea typeface="Aptos"/>
                <a:cs typeface="Aptos"/>
              </a:rPr>
              <a:t>유물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957554-5CBE-4AA0-8A1E-9AC6137A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575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74D04B-0036-438B-9FFB-457A5419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95625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복원 비용·시간 감소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226F7E-E654-4069-A59F-56B4FF15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10972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E6"/>
          </a:solidFill>
          <a:ln xmlns:a="http://schemas.openxmlformats.org/drawingml/2006/main" w="19050">
            <a:solidFill>
              <a:srgbClr val="727B76"/>
            </a:solidFill>
            <a:prstDash val="dash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AED66F-46D4-47A5-B057-52F24719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14875"/>
            <a:ext cx="1051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사진 삽입 위치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2BE584-F3C0-416B-A784-4757CC1B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57775"/>
            <a:ext cx="10325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광산·대장간·관아·유물 복원소가 한 화면에 보이고</a:t>
            </a:r>
          </a:p>
          <a:p xmlns:a="http://schemas.openxmlformats.org/drawingml/2006/main">
            <a:pPr algn="ctr"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서로 다른 복구 단계가 비교되는 마을 화면</a:t>
            </a:r>
          </a:p>
        </p:txBody>
      </p:sp>
    </p:spTree>
    <p:extLst>
      <p:ext uri="{BB962C8B-B14F-4D97-AF65-F5344CB8AC3E}">
        <p14:creationId xmlns:p14="http://schemas.microsoft.com/office/powerpoint/2010/main" val="16786257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818E1F-825F-4322-97E1-05E3D1B3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CDFD9-B243-4A5D-A2F2-8ECCD8A4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6C1376-4555-4F7E-AB4E-3AC6A01D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RAID 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7662C-E913-4E3C-A1B1-4B8BAE9A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3일마다 더 큰 습격이 마을의 성장을 시험한다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51C72-29AC-41EF-B1C0-AAA8CB10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9FE13-EE65-44AB-B960-219D3968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383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58A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58A42"/>
                </a:solidFill>
                <a:latin typeface="Aptos"/>
                <a:ea typeface="Aptos"/>
                <a:cs typeface="Aptos"/>
              </a:rPr>
              <a:t>3일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E0A5E-C5BA-4398-96E9-0998B0CB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습격 주기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3F94E-EC2F-484B-AE06-B56B0BF5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6383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58A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58A42"/>
                </a:solidFill>
                <a:latin typeface="Aptos"/>
                <a:ea typeface="Aptos"/>
                <a:cs typeface="Aptos"/>
              </a:rPr>
              <a:t>30일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11601-8658-4D29-9B43-AAE13C5D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145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마지막 습격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11D8C-00E9-4A2E-8257-E37958DB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38300"/>
            <a:ext cx="142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C58A42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C58A42"/>
                </a:solidFill>
                <a:latin typeface="Aptos"/>
                <a:ea typeface="Aptos"/>
                <a:cs typeface="Aptos"/>
              </a:rPr>
              <a:t>15마리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6F17C-BD5C-4542-AD34-840A9F2B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최대 생성 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40933-0A6D-43BC-A82C-2B1B6A991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533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CFB4F4-A943-4B14-8FAA-D22C51B3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F204D-7F00-4E55-81EE-3C0F5488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37185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3일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A7C52-DDF0-441F-963D-D3AD9B3E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67665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3마리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341AD3-B962-45BF-98AD-0C04B052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9B8FA8-D8DC-4040-925A-E60BE8E4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7185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6일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1C79B6-34FB-4131-8434-26966FCE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67665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5마리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945864-D790-4B32-8E37-02E58D09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6194FE-030A-43A8-8DB3-73965ECF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37185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9일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6C270D-F206-4203-A4C6-6619EFDA4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67665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7마리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D75CEE-86B5-459D-991F-40BA95EE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04D66F-FFB1-4426-8BBF-A83194F0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37185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18일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34301D-A26A-4A6F-A731-B16D314C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7665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13마리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B0530C-377C-4D02-9E2D-C19BCF0B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009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8A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A0B046-09FA-4748-A92D-E64083B4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371850"/>
            <a:ext cx="609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30일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34EF0F-F41D-4964-8FC6-E8C58F7A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67665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15마리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413C50-E0DE-44FE-A586-AFD06A7A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38625"/>
            <a:ext cx="5286375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오른쪽 좌표에서 적대 몹을 생성하고</a:t>
            </a:r>
          </a:p>
          <a:p xmlns:a="http://schemas.openxmlformats.org/drawingml/2006/main">
            <a:pPr algn="l"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마을 중심을 우선 목적지로 지정한다.</a:t>
            </a:r>
          </a:p>
          <a:p xmlns:a="http://schemas.openxmlformats.org/drawingml/2006/main">
            <a:pPr algn="l"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호랑이는 5일차부터 등장한다.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1CCBA5-BEF3-4B91-9EE2-08603F7A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66875"/>
            <a:ext cx="509587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E6"/>
          </a:solidFill>
          <a:ln xmlns:a="http://schemas.openxmlformats.org/drawingml/2006/main" w="19050">
            <a:solidFill>
              <a:srgbClr val="727B76"/>
            </a:solidFill>
            <a:prstDash val="dash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FDB446-D067-4A58-8E14-CBB16361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14700"/>
            <a:ext cx="46386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사진 삽입 위치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BC094B-7B77-42DB-B7AD-2CDED8FE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657600"/>
            <a:ext cx="44481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화면 오른쪽에서 여러 적이 생성되어</a:t>
            </a:r>
          </a:p>
          <a:p xmlns:a="http://schemas.openxmlformats.org/drawingml/2006/main">
            <a:pPr algn="ctr"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마을 건물과 주민 쪽으로 이동하는 습격 장면</a:t>
            </a:r>
          </a:p>
        </p:txBody>
      </p:sp>
    </p:spTree>
    <p:extLst>
      <p:ext uri="{BB962C8B-B14F-4D97-AF65-F5344CB8AC3E}">
        <p14:creationId xmlns:p14="http://schemas.microsoft.com/office/powerpoint/2010/main" val="10496627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2A0C44-1A06-496F-86A3-FCCD0B9A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BF4B9-E20A-4D22-9CB5-DA49AFA8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45696-BE78-482E-B0CC-12D4DBB2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3DBDA-9BF9-4BE4-9755-CAB98C51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유물은 수집품이 아니라 성장과 승리를 잇는 시스템이다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6B683-732F-45AF-80B7-201DEFE8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8860A-64AB-47A2-BC93-2D2783BF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676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8E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E2B51-EA16-4118-9D47-B6472F63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44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손상 유물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5AB8FF-D27B-4D6E-90BC-92352BF3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몹에게서 드롭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26444-29FF-4F75-9D39-540B5035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38375"/>
            <a:ext cx="26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CF6B7-7415-44C8-89C1-9521E66C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809750"/>
            <a:ext cx="1676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8E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69DB2-74B9-4857-AC22-5DEF0AF3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047875"/>
            <a:ext cx="144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슬롯 2칸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9AACE8-66B7-4260-A7FA-636D7A95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9555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플레이어가 운반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F2811-5CBD-4540-983E-20E64696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6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AAEFD6-A38D-4848-8842-6C8A057C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09750"/>
            <a:ext cx="1676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D8E2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5DEBEC-06BD-4C21-8034-D0420EE1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144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복원소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68ADA5-DA60-4235-AD2B-87417E33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9555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비용·시간 소비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C4A04C-5FAA-4183-A74B-499F9BF5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38375"/>
            <a:ext cx="26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9C05CD-2513-4D52-BF9B-7F882D04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809750"/>
            <a:ext cx="16764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D6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904ED-F2EB-40C5-BE76-B202BF30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47875"/>
            <a:ext cx="144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도감 등록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E4F7E2-5137-41C3-B649-BAA02561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95550"/>
            <a:ext cx="1447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효과 활성화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ACDE94-E523-4DB1-8F80-ED1C6F32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7334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10종 전체 복원 + 관아 4단계 = 승리</a:t>
            </a:r>
          </a:p>
          <a:p xmlns:a="http://schemas.openxmlformats.org/drawingml/2006/main">
            <a:pPr algn="l">
              <a:defRPr sz="18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유물 효과는 체력·공격력·속도·회복·자동 동전을 강화한다.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EC83BD-DD38-45AE-9B66-7C07F131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342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E6"/>
          </a:solidFill>
          <a:ln xmlns:a="http://schemas.openxmlformats.org/drawingml/2006/main" w="19050">
            <a:solidFill>
              <a:srgbClr val="727B76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E98716-B78A-4325-BC31-95603E6C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337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사진 삽입 위치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EA5894-8C8C-46AC-9E4E-ACE3C859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76650"/>
            <a:ext cx="2781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손상 유물을 들고 있는 HUD와</a:t>
            </a:r>
          </a:p>
          <a:p xmlns:a="http://schemas.openxmlformats.org/drawingml/2006/main">
            <a:pPr algn="ctr">
              <a:defRPr sz="16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복원소 진행 바 또는 유물 도감 화면</a:t>
            </a:r>
          </a:p>
        </p:txBody>
      </p:sp>
    </p:spTree>
    <p:extLst>
      <p:ext uri="{BB962C8B-B14F-4D97-AF65-F5344CB8AC3E}">
        <p14:creationId xmlns:p14="http://schemas.microsoft.com/office/powerpoint/2010/main" val="168295180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6B8D19-6125-42EF-9D6A-C5DBC2CA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560D4C-51EB-4B0E-874D-07EA0EFC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68662-A29A-40E2-B575-71A6B62C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02373-8D16-47F1-A3D3-BE049474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main.tscn이 독립된 씬과 공통 스크립트를 조율한다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F782A-D027-4A8E-9002-9A8856FE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E8EA19-54DF-492F-9BB9-FEAA06EB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57350"/>
            <a:ext cx="2762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5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D32DE-5659-4338-A7CA-EBEB1FB2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8288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main.tscn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6E120B-8661-487B-8474-0BAE61D6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52650"/>
            <a:ext cx="2381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7D2C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2CD"/>
                </a:solidFill>
                <a:latin typeface="Aptos"/>
                <a:ea typeface="Aptos"/>
                <a:cs typeface="Aptos"/>
              </a:rPr>
              <a:t>날짜·습격·승리 총괄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4DEABB-A14C-436E-A43D-352AFEAC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325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8E2D8"/>
          </a:solidFill>
          <a:ln xmlns:a="http://schemas.openxmlformats.org/drawingml/2006/main" w="9525">
            <a:solidFill>
              <a:srgbClr val="557A6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5E975A-F0B6-4D50-BAAA-2DF4DA77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362325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player.tscn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8417EC-AE9E-41CB-97FE-C6576BEB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9095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이동·전투·유물 슬롯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5EEEB-CD55-4E04-BDBF-1C3AEDDF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14325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D6B9"/>
          </a:solidFill>
          <a:ln xmlns:a="http://schemas.openxmlformats.org/drawingml/2006/main" w="9525">
            <a:solidFill>
              <a:srgbClr val="C58A4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4E04AC-1223-456C-835B-065BC59D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362325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animal.gd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00B0C6-ED18-426B-9760-821D8E1C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79095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몹 5종 공통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E7DBE-0399-4E35-956B-16110C17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14325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8E2D8"/>
          </a:solidFill>
          <a:ln xmlns:a="http://schemas.openxmlformats.org/drawingml/2006/main" w="9525">
            <a:solidFill>
              <a:srgbClr val="557A6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F88608-4F88-4F44-808E-9E2BB7F7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362325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upgrade_building.gd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5DD335-7F38-4CAC-906C-27D8FC16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79095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건물 단계·상호작용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03C9A-96F6-4748-8F85-F5A47FDD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4325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D6B9"/>
          </a:solidFill>
          <a:ln xmlns:a="http://schemas.openxmlformats.org/drawingml/2006/main" w="9525">
            <a:solidFill>
              <a:srgbClr val="C58A4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824B79-BF21-46A0-92F3-319EA668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362325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ArtifactCatalog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D9998C-A37E-4122-B8B5-0EADC909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79095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유물 등록·효과·저장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ECC6E8-A709-4169-AFE7-76C996AD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143250"/>
            <a:ext cx="1809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8E2D8"/>
          </a:solidFill>
          <a:ln xmlns:a="http://schemas.openxmlformats.org/drawingml/2006/main" w="9525">
            <a:solidFill>
              <a:srgbClr val="557A6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5AB809-6C78-4EDF-8FF3-DD423B3C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362325"/>
            <a:ext cx="1581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UI 씬 4종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70055E-0890-461C-AF70-0AB5F3B0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790950"/>
            <a:ext cx="1581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HUD·도감·메뉴·결과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2A7C72-7EE9-4611-8EF6-C9B531EF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10763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씬은 화면과 노드 구성을 담당하고, 공통 스크립트는 여러 변형의 행동을 재사용한다.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6029F7-A0E3-4AA5-A15A-7259F742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38800"/>
            <a:ext cx="962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41개 씬 · Autoload 1개 · 충돌 레이어 3종</a:t>
            </a:r>
          </a:p>
        </p:txBody>
      </p:sp>
    </p:spTree>
    <p:extLst>
      <p:ext uri="{BB962C8B-B14F-4D97-AF65-F5344CB8AC3E}">
        <p14:creationId xmlns:p14="http://schemas.microsoft.com/office/powerpoint/2010/main" val="12022556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CB25A9-AF7E-4167-A7BC-6CA3C6F0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3760B-34BD-4F52-9ECE-2417E7E1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A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B5B51-C023-4F93-84E0-1AC693C1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PROBLEM SOLVING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E287C-8770-41F2-B783-DFA02B79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개별 오류를 시스템 규칙으로 바꿔 해결했다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D76B3-4B78-43C8-92B0-31CFA76F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727B7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27B7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D2F8B-365C-4CCB-9DEB-44A7D7FA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544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65448"/>
                </a:solidFill>
                <a:latin typeface="Aptos"/>
                <a:ea typeface="Aptos"/>
                <a:cs typeface="Aptos"/>
              </a:rPr>
              <a:t>문제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53447-1EDB-4E9A-BBA7-BE85C763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구현 규칙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FF380-D4AB-4FC3-92C9-FF74EC84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58A42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58A42"/>
                </a:solidFill>
                <a:latin typeface="Aptos"/>
                <a:ea typeface="Aptos"/>
                <a:cs typeface="Aptos"/>
              </a:rPr>
              <a:t>결과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1FB5D-F059-4FA5-8D72-66F907F8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10972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DEE82-1D37-4005-A3C3-C2AE8FAC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몹끼리 접촉하면 밀림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52B36C-FED2-4E30-8677-DA6C0BC6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24100"/>
            <a:ext cx="333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레이어 4 · 마스크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2B36D-4DF9-402C-A9C6-5BBB7404E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24100"/>
            <a:ext cx="2714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57A6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57A62"/>
                </a:solidFill>
                <a:latin typeface="Aptos"/>
                <a:ea typeface="Aptos"/>
                <a:cs typeface="Aptos"/>
              </a:rPr>
              <a:t>개체끼리 통과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A4316E-7AA1-4000-83E5-44049CF1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0425"/>
            <a:ext cx="10972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2854F1-A444-42B2-A34C-EAACFA79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주민 사망 후 회복 불가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F6C430-5CA0-4E6F-B6F6-6E5B7C03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81400"/>
            <a:ext cx="333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관아 수용력 + 일일 보충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5D10E-17CA-4838-B822-F8C986DB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581400"/>
            <a:ext cx="2714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58A4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58A42"/>
                </a:solidFill>
                <a:latin typeface="Aptos"/>
                <a:ea typeface="Aptos"/>
                <a:cs typeface="Aptos"/>
              </a:rPr>
              <a:t>하루 1명 복구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1DB8C-9165-44D1-8F32-72031F99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57725"/>
            <a:ext cx="109728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53C2F0-0341-41A9-A1C2-6B9B8CF4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387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습격 규모가 모호함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6B27A5-4008-4CAB-9AA8-AF1FC65C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3333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42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52421"/>
                </a:solidFill>
                <a:latin typeface="Aptos"/>
                <a:ea typeface="Aptos"/>
                <a:cs typeface="Aptos"/>
              </a:rPr>
              <a:t>3일 주기 · 30일 · 최대 15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5F4C5B-71ED-4DBE-A4CC-D967445E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38700"/>
            <a:ext cx="2714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58A4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C58A42"/>
                </a:solidFill>
                <a:latin typeface="Aptos"/>
                <a:ea typeface="Aptos"/>
                <a:cs typeface="Aptos"/>
              </a:rPr>
              <a:t>난이도 규칙 확립</a:t>
            </a:r>
          </a:p>
        </p:txBody>
      </p:sp>
    </p:spTree>
    <p:extLst>
      <p:ext uri="{BB962C8B-B14F-4D97-AF65-F5344CB8AC3E}">
        <p14:creationId xmlns:p14="http://schemas.microsoft.com/office/powerpoint/2010/main" val="14230497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2BA55F-B145-4FCC-9A02-C762B3CA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4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A4C54B-71CC-4304-845D-59073608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66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8A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BADF4-EDE7-4944-83E1-BCEB81AB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D6B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D6B9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DA690-46FC-4DD2-958A-4EAB645C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66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핵심 게임 루프는 완성됐고, 확장 방향도 분명하다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34FE3-8A3C-4E73-AE1F-1EF58136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6270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EB9B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B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D0E13D-1D9B-4CC2-8832-07C1EF43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D6B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D6B9"/>
                </a:solidFill>
                <a:latin typeface="Aptos"/>
                <a:ea typeface="Aptos"/>
                <a:cs typeface="Aptos"/>
              </a:rPr>
              <a:t>완성한 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87BC7-F3A2-4A97-99AE-6E32818F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45720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전투 → 재건 → 복원 → 방어 연결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몹 5종 · 건물 5종 · 유물 10종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주민 최대 8명과 30일 습격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복합 승리 조건 구현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30150-B4EE-46CB-BD54-4D712AFB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AD6B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AD6B9"/>
                </a:solidFill>
                <a:latin typeface="Aptos"/>
                <a:ea typeface="Aptos"/>
                <a:cs typeface="Aptos"/>
              </a:rPr>
              <a:t>다음 단계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34574-FAB4-4FE8-9ED6-89752126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457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D2C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D2CD"/>
                </a:solidFill>
                <a:latin typeface="Aptos"/>
                <a:ea typeface="Aptos"/>
                <a:cs typeface="Aptos"/>
              </a:rPr>
              <a:t>방어벽의 실제 기능 강화</a:t>
            </a:r>
          </a:p>
          <a:p xmlns:a="http://schemas.openxmlformats.org/drawingml/2006/main">
            <a:pPr algn="l">
              <a:defRPr sz="1650" b="1">
                <a:solidFill>
                  <a:srgbClr val="C7D2C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D2CD"/>
                </a:solidFill>
                <a:latin typeface="Aptos"/>
                <a:ea typeface="Aptos"/>
                <a:cs typeface="Aptos"/>
              </a:rPr>
              <a:t>주민 직업과 30일 이후 콘텐츠</a:t>
            </a:r>
          </a:p>
          <a:p xmlns:a="http://schemas.openxmlformats.org/drawingml/2006/main">
            <a:pPr algn="l">
              <a:defRPr sz="1650" b="1">
                <a:solidFill>
                  <a:srgbClr val="C7D2C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D2CD"/>
                </a:solidFill>
                <a:latin typeface="Aptos"/>
                <a:ea typeface="Aptos"/>
                <a:cs typeface="Aptos"/>
              </a:rPr>
              <a:t>플레이 데이터 기반 밸런스 조정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C9E0FF-842B-47AD-B1F3-02E8D043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5619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430"/>
          </a:solidFill>
          <a:ln xmlns:a="http://schemas.openxmlformats.org/drawingml/2006/main" w="19050">
            <a:solidFill>
              <a:srgbClr val="8BA096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492FE-8C09-4A1B-91B5-4AA6B8FE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14700"/>
            <a:ext cx="516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AD6B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D6B9"/>
                </a:solidFill>
                <a:latin typeface="Aptos"/>
                <a:ea typeface="Aptos"/>
                <a:cs typeface="Aptos"/>
              </a:rPr>
              <a:t>사진 삽입 위치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81CE4-2B2B-4FE2-8C7D-B1B69C07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57600"/>
            <a:ext cx="49720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유물 10종과 관아 4단계를 달성한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승리 화면 또는 완전히 재건된 마을 전경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DFE5DA-3B10-4A68-9AE4-46410572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000750"/>
            <a:ext cx="3333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ctr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EAD6B9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AD6B9"/>
                </a:solidFill>
                <a:latin typeface="Aptos"/>
                <a:ea typeface="Aptos"/>
                <a:cs typeface="Aptos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95015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2026-06-14T10:28:47.6560000Z</dcterms:created>
  <dcterms:modified xsi:type="dcterms:W3CDTF">2026-06-14T10:28:47.6560000Z</dcterms:modified>
</coreProperties>
</file>